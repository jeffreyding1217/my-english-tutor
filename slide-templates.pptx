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</p:sldIdLst>
  <p:notesMasterIdLst>
    <p:notesMasterId r:id="rId4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notesMaster" Target="notesMasters/notesMaster1.xml"/><Relationship Id="rId50" Type="http://schemas.openxmlformats.org/officeDocument/2006/relationships/presProps" Target="presProps.xml"/><Relationship Id="rId51" Type="http://schemas.openxmlformats.org/officeDocument/2006/relationships/viewProps" Target="viewProps.xml"/><Relationship Id="rId52" Type="http://schemas.openxmlformats.org/officeDocument/2006/relationships/theme" Target="theme/theme1.xml"/><Relationship Id="rId5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33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99855" y="-1463040"/>
            <a:ext cx="4754880" cy="4754880"/>
          </a:xfrm>
          <a:prstGeom prst="ellipse">
            <a:avLst/>
          </a:prstGeom>
          <a:solidFill>
            <a:srgbClr val="17436F"/>
          </a:solidFill>
          <a:ln/>
        </p:spPr>
      </p:sp>
      <p:sp>
        <p:nvSpPr>
          <p:cNvPr id="3" name="Shape 1"/>
          <p:cNvSpPr/>
          <p:nvPr/>
        </p:nvSpPr>
        <p:spPr>
          <a:xfrm>
            <a:off x="10180015" y="4480560"/>
            <a:ext cx="2926080" cy="2926080"/>
          </a:xfrm>
          <a:prstGeom prst="ellipse">
            <a:avLst/>
          </a:prstGeom>
          <a:solidFill>
            <a:srgbClr val="1B4E80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10515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7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0 · FIRST SESSION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463040"/>
            <a:ext cx="9601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Welcome &amp; Level Check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8803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7E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Level: All Levels   ·   Duration: 30 minutes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3703320"/>
            <a:ext cx="457200" cy="457200"/>
          </a:xfrm>
          <a:prstGeom prst="ellipse">
            <a:avLst/>
          </a:prstGeom>
          <a:solidFill>
            <a:srgbClr val="F2A73B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3703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188720" y="3703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7D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student's first session — use it to welcome them and find their level.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4709160"/>
            <a:ext cx="25678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AFC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VOLUNTEER NAME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48640" y="5093208"/>
            <a:ext cx="2567864" cy="0"/>
          </a:xfrm>
          <a:prstGeom prst="line">
            <a:avLst/>
          </a:prstGeom>
          <a:noFill/>
          <a:ln w="12700">
            <a:solidFill>
              <a:srgbClr val="44608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390824" y="4709160"/>
            <a:ext cx="25678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AFC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NAME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390824" y="5093208"/>
            <a:ext cx="2567864" cy="0"/>
          </a:xfrm>
          <a:prstGeom prst="line">
            <a:avLst/>
          </a:prstGeom>
          <a:noFill/>
          <a:ln w="12700">
            <a:solidFill>
              <a:srgbClr val="44608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233008" y="4709160"/>
            <a:ext cx="25678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AFC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233008" y="5093208"/>
            <a:ext cx="2567864" cy="0"/>
          </a:xfrm>
          <a:prstGeom prst="line">
            <a:avLst/>
          </a:prstGeom>
          <a:noFill/>
          <a:ln w="12700">
            <a:solidFill>
              <a:srgbClr val="44608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075191" y="4709160"/>
            <a:ext cx="25678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AFC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#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9075191" y="5093208"/>
            <a:ext cx="2567864" cy="0"/>
          </a:xfrm>
          <a:prstGeom prst="line">
            <a:avLst/>
          </a:prstGeom>
          <a:noFill/>
          <a:ln w="12700">
            <a:solidFill>
              <a:srgbClr val="44608A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4864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AFC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 TO CHINA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7071055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FC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Welcome &amp; Level Check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07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 YOUR TEACHER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2296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3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Introduce Yourself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173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A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Volunteers: fill this in before your first session so the student knows who they're meeting.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057400"/>
            <a:ext cx="3017520" cy="3886200"/>
          </a:xfrm>
          <a:prstGeom prst="roundRect">
            <a:avLst>
              <a:gd name="adj" fmla="val 4242"/>
            </a:avLst>
          </a:prstGeom>
          <a:solidFill>
            <a:srgbClr val="F5FAF8"/>
          </a:solidFill>
          <a:ln w="12700">
            <a:solidFill>
              <a:srgbClr val="DFE7E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371600" y="2423160"/>
            <a:ext cx="1371600" cy="1371600"/>
          </a:xfrm>
          <a:prstGeom prst="ellipse">
            <a:avLst/>
          </a:prstGeom>
          <a:solidFill>
            <a:srgbClr val="1E4E8C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371600" y="242316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914400" y="4160520"/>
            <a:ext cx="2286000" cy="0"/>
          </a:xfrm>
          <a:prstGeom prst="line">
            <a:avLst/>
          </a:prstGeom>
          <a:noFill/>
          <a:ln w="12700">
            <a:solidFill>
              <a:srgbClr val="C7D3D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14400" y="425196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4A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914400" y="4709160"/>
            <a:ext cx="2286000" cy="0"/>
          </a:xfrm>
          <a:prstGeom prst="line">
            <a:avLst/>
          </a:prstGeom>
          <a:noFill/>
          <a:ln w="12700">
            <a:solidFill>
              <a:srgbClr val="C7D3D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14400" y="480060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4A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COUNTRY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914400" y="5257800"/>
            <a:ext cx="2286000" cy="0"/>
          </a:xfrm>
          <a:prstGeom prst="line">
            <a:avLst/>
          </a:prstGeom>
          <a:noFill/>
          <a:ln w="12700">
            <a:solidFill>
              <a:srgbClr val="C7D3D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14400" y="534924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4A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LANGUAGES SPOKEN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4023360" y="2057400"/>
            <a:ext cx="76196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little about me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023360" y="2468880"/>
            <a:ext cx="7619695" cy="0"/>
          </a:xfrm>
          <a:prstGeom prst="line">
            <a:avLst/>
          </a:prstGeom>
          <a:noFill/>
          <a:ln w="12700">
            <a:solidFill>
              <a:srgbClr val="C7D3D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023360" y="2852928"/>
            <a:ext cx="7619695" cy="0"/>
          </a:xfrm>
          <a:prstGeom prst="line">
            <a:avLst/>
          </a:prstGeom>
          <a:noFill/>
          <a:ln w="12700">
            <a:solidFill>
              <a:srgbClr val="C7D3D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023360" y="3236976"/>
            <a:ext cx="7619695" cy="0"/>
          </a:xfrm>
          <a:prstGeom prst="line">
            <a:avLst/>
          </a:prstGeom>
          <a:noFill/>
          <a:ln w="12700">
            <a:solidFill>
              <a:srgbClr val="C7D3D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023360" y="3621024"/>
            <a:ext cx="7619695" cy="0"/>
          </a:xfrm>
          <a:prstGeom prst="line">
            <a:avLst/>
          </a:prstGeom>
          <a:noFill/>
          <a:ln w="12700">
            <a:solidFill>
              <a:srgbClr val="C7D3D0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023360" y="4142232"/>
            <a:ext cx="76196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Hobbies &amp; interests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023360" y="4553712"/>
            <a:ext cx="7619695" cy="0"/>
          </a:xfrm>
          <a:prstGeom prst="line">
            <a:avLst/>
          </a:prstGeom>
          <a:noFill/>
          <a:ln w="12700">
            <a:solidFill>
              <a:srgbClr val="C7D3D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023360" y="5056632"/>
            <a:ext cx="76196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 volunteer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023360" y="5468112"/>
            <a:ext cx="7619695" cy="0"/>
          </a:xfrm>
          <a:prstGeom prst="line">
            <a:avLst/>
          </a:prstGeom>
          <a:noFill/>
          <a:ln w="12700">
            <a:solidFill>
              <a:srgbClr val="C7D3D0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54864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4A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 TO CHINA</a:t>
            </a:r>
            <a:endParaRPr lang="en-US" sz="900" dirty="0"/>
          </a:p>
        </p:txBody>
      </p:sp>
      <p:sp>
        <p:nvSpPr>
          <p:cNvPr id="24" name="Text 22"/>
          <p:cNvSpPr txBox="1"/>
          <p:nvPr/>
        </p:nvSpPr>
        <p:spPr>
          <a:xfrm>
            <a:off x="7071055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Lesson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46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SELF-INTRODUCTION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2296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3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Icebreaker Questions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630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A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these first — they work at any level and help the student relax before the level check.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438912" cy="438912"/>
          </a:xfrm>
          <a:prstGeom prst="ellipse">
            <a:avLst/>
          </a:prstGeom>
          <a:solidFill>
            <a:srgbClr val="1F8A5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48640" y="214884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188720" y="2093976"/>
            <a:ext cx="10058400" cy="777240"/>
          </a:xfrm>
          <a:prstGeom prst="roundRect">
            <a:avLst>
              <a:gd name="adj" fmla="val 11765"/>
            </a:avLst>
          </a:prstGeom>
          <a:solidFill>
            <a:srgbClr val="F5FAF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463040" y="2093976"/>
            <a:ext cx="9509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3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your name, and where are you from?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3108960"/>
            <a:ext cx="438912" cy="438912"/>
          </a:xfrm>
          <a:prstGeom prst="ellipse">
            <a:avLst/>
          </a:prstGeom>
          <a:solidFill>
            <a:srgbClr val="1F8A5F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48640" y="310896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1188720" y="3054096"/>
            <a:ext cx="10058400" cy="777240"/>
          </a:xfrm>
          <a:prstGeom prst="roundRect">
            <a:avLst>
              <a:gd name="adj" fmla="val 11765"/>
            </a:avLst>
          </a:prstGeom>
          <a:solidFill>
            <a:srgbClr val="F5FAF8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1463040" y="3054096"/>
            <a:ext cx="9509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3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 you enjoy doing after school or work?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48640" y="4069080"/>
            <a:ext cx="438912" cy="438912"/>
          </a:xfrm>
          <a:prstGeom prst="ellipse">
            <a:avLst/>
          </a:prstGeom>
          <a:solidFill>
            <a:srgbClr val="1F8A5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48640" y="406908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1188720" y="4014216"/>
            <a:ext cx="10058400" cy="777240"/>
          </a:xfrm>
          <a:prstGeom prst="roundRect">
            <a:avLst>
              <a:gd name="adj" fmla="val 11765"/>
            </a:avLst>
          </a:prstGeom>
          <a:solidFill>
            <a:srgbClr val="F5FAF8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1463040" y="4014216"/>
            <a:ext cx="9509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3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do you want to improve your English?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548640" y="5029200"/>
            <a:ext cx="438912" cy="438912"/>
          </a:xfrm>
          <a:prstGeom prst="ellipse">
            <a:avLst/>
          </a:prstGeom>
          <a:solidFill>
            <a:srgbClr val="1F8A5F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548640" y="50292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1188720" y="4974336"/>
            <a:ext cx="10058400" cy="777240"/>
          </a:xfrm>
          <a:prstGeom prst="roundRect">
            <a:avLst>
              <a:gd name="adj" fmla="val 11765"/>
            </a:avLst>
          </a:prstGeom>
          <a:solidFill>
            <a:srgbClr val="F5FAF8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1463040" y="4974336"/>
            <a:ext cx="9509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3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are you hoping to be able to do with English?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4A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 TO CHINA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7071055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Lesson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46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CHECK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22960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3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Beginner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899855" y="914400"/>
            <a:ext cx="2743200" cy="502920"/>
          </a:xfrm>
          <a:prstGeom prst="roundRect">
            <a:avLst>
              <a:gd name="adj" fmla="val 50909"/>
            </a:avLst>
          </a:prstGeom>
          <a:solidFill>
            <a:srgbClr val="1F8A5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899855" y="91440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HERE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11094415" cy="4343400"/>
          </a:xfrm>
          <a:prstGeom prst="roundRect">
            <a:avLst>
              <a:gd name="adj" fmla="val 2526"/>
            </a:avLst>
          </a:prstGeom>
          <a:solidFill>
            <a:srgbClr val="F5FAF8"/>
          </a:solidFill>
          <a:ln w="12700">
            <a:solidFill>
              <a:srgbClr val="DFE7E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68680" y="2020824"/>
            <a:ext cx="219456" cy="219456"/>
          </a:xfrm>
          <a:prstGeom prst="rect">
            <a:avLst/>
          </a:prstGeom>
          <a:solidFill>
            <a:srgbClr val="FFFFFF"/>
          </a:solidFill>
          <a:ln w="19050">
            <a:solidFill>
              <a:srgbClr val="1F8A5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234440" y="1965960"/>
            <a:ext cx="97228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3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say the alphabet and count to 20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868680" y="2679192"/>
            <a:ext cx="219456" cy="219456"/>
          </a:xfrm>
          <a:prstGeom prst="rect">
            <a:avLst/>
          </a:prstGeom>
          <a:solidFill>
            <a:srgbClr val="FFFFFF"/>
          </a:solidFill>
          <a:ln w="19050">
            <a:solidFill>
              <a:srgbClr val="1F8A5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234440" y="2624328"/>
            <a:ext cx="97228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3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answer “What is your name?” and “How old are you?”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868680" y="3337560"/>
            <a:ext cx="219456" cy="219456"/>
          </a:xfrm>
          <a:prstGeom prst="rect">
            <a:avLst/>
          </a:prstGeom>
          <a:solidFill>
            <a:srgbClr val="FFFFFF"/>
          </a:solidFill>
          <a:ln w="19050">
            <a:solidFill>
              <a:srgbClr val="1F8A5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234440" y="3282696"/>
            <a:ext cx="97228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3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Knows basic colors, numbers, and family words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868680" y="3995928"/>
            <a:ext cx="219456" cy="219456"/>
          </a:xfrm>
          <a:prstGeom prst="rect">
            <a:avLst/>
          </a:prstGeom>
          <a:solidFill>
            <a:srgbClr val="FFFFFF"/>
          </a:solidFill>
          <a:ln w="19050">
            <a:solidFill>
              <a:srgbClr val="1F8A5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234440" y="3941064"/>
            <a:ext cx="97228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3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form a simple sentence: “I am a student.”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868680" y="4654296"/>
            <a:ext cx="219456" cy="219456"/>
          </a:xfrm>
          <a:prstGeom prst="rect">
            <a:avLst/>
          </a:prstGeom>
          <a:solidFill>
            <a:srgbClr val="FFFFFF"/>
          </a:solidFill>
          <a:ln w="19050">
            <a:solidFill>
              <a:srgbClr val="1F8A5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234440" y="4599432"/>
            <a:ext cx="97228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3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Understands simple yes/no questions</a:t>
            </a:r>
            <a:endParaRPr lang="en-US" sz="1450" dirty="0"/>
          </a:p>
        </p:txBody>
      </p:sp>
      <p:sp>
        <p:nvSpPr>
          <p:cNvPr id="17" name="Text 15"/>
          <p:cNvSpPr txBox="1"/>
          <p:nvPr/>
        </p:nvSpPr>
        <p:spPr>
          <a:xfrm>
            <a:off x="868680" y="5623560"/>
            <a:ext cx="104543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A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off what the student answers comfortably. Move to the next level only if most boxes are checked.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4A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 TO CHINA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7071055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Lesson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46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CHECK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22960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3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Intermediate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899855" y="914400"/>
            <a:ext cx="2743200" cy="502920"/>
          </a:xfrm>
          <a:prstGeom prst="roundRect">
            <a:avLst>
              <a:gd name="adj" fmla="val 50909"/>
            </a:avLst>
          </a:prstGeom>
          <a:solidFill>
            <a:srgbClr val="1E4E8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899855" y="91440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BEGINNER PASSES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11094415" cy="4343400"/>
          </a:xfrm>
          <a:prstGeom prst="roundRect">
            <a:avLst>
              <a:gd name="adj" fmla="val 2526"/>
            </a:avLst>
          </a:prstGeom>
          <a:solidFill>
            <a:srgbClr val="F5FAF8"/>
          </a:solidFill>
          <a:ln w="12700">
            <a:solidFill>
              <a:srgbClr val="DFE7E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68680" y="2020824"/>
            <a:ext cx="219456" cy="219456"/>
          </a:xfrm>
          <a:prstGeom prst="rect">
            <a:avLst/>
          </a:prstGeom>
          <a:solidFill>
            <a:srgbClr val="FFFFFF"/>
          </a:solidFill>
          <a:ln w="19050">
            <a:solidFill>
              <a:srgbClr val="1E4E8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234440" y="1965960"/>
            <a:ext cx="97228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3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describe daily routine using present simple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868680" y="2679192"/>
            <a:ext cx="219456" cy="219456"/>
          </a:xfrm>
          <a:prstGeom prst="rect">
            <a:avLst/>
          </a:prstGeom>
          <a:solidFill>
            <a:srgbClr val="FFFFFF"/>
          </a:solidFill>
          <a:ln w="19050">
            <a:solidFill>
              <a:srgbClr val="1E4E8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234440" y="2624328"/>
            <a:ext cx="97228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3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talk about a past event using past tense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868680" y="3337560"/>
            <a:ext cx="219456" cy="219456"/>
          </a:xfrm>
          <a:prstGeom prst="rect">
            <a:avLst/>
          </a:prstGeom>
          <a:solidFill>
            <a:srgbClr val="FFFFFF"/>
          </a:solidFill>
          <a:ln w="19050">
            <a:solidFill>
              <a:srgbClr val="1E4E8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234440" y="3282696"/>
            <a:ext cx="97228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3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ask and answer “Why” and “How” questions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868680" y="3995928"/>
            <a:ext cx="219456" cy="219456"/>
          </a:xfrm>
          <a:prstGeom prst="rect">
            <a:avLst/>
          </a:prstGeom>
          <a:solidFill>
            <a:srgbClr val="FFFFFF"/>
          </a:solidFill>
          <a:ln w="19050">
            <a:solidFill>
              <a:srgbClr val="1E4E8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234440" y="3941064"/>
            <a:ext cx="97228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3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connecting words: and, but, because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868680" y="4654296"/>
            <a:ext cx="219456" cy="219456"/>
          </a:xfrm>
          <a:prstGeom prst="rect">
            <a:avLst/>
          </a:prstGeom>
          <a:solidFill>
            <a:srgbClr val="FFFFFF"/>
          </a:solidFill>
          <a:ln w="19050">
            <a:solidFill>
              <a:srgbClr val="1E4E8C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234440" y="4599432"/>
            <a:ext cx="97228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3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hold a short back-and-forth conversation</a:t>
            </a:r>
            <a:endParaRPr lang="en-US" sz="1450" dirty="0"/>
          </a:p>
        </p:txBody>
      </p:sp>
      <p:sp>
        <p:nvSpPr>
          <p:cNvPr id="17" name="Text 15"/>
          <p:cNvSpPr txBox="1"/>
          <p:nvPr/>
        </p:nvSpPr>
        <p:spPr>
          <a:xfrm>
            <a:off x="868680" y="5623560"/>
            <a:ext cx="104543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A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off what the student answers comfortably. Move to the next level only if most boxes are checked.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4A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 TO CHINA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7071055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Lesson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46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CHECK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22960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3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Advanced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899855" y="914400"/>
            <a:ext cx="2743200" cy="502920"/>
          </a:xfrm>
          <a:prstGeom prst="roundRect">
            <a:avLst>
              <a:gd name="adj" fmla="val 50909"/>
            </a:avLst>
          </a:prstGeom>
          <a:solidFill>
            <a:srgbClr val="F2A73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899855" y="91440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INTERMEDIATE PASSES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11094415" cy="4343400"/>
          </a:xfrm>
          <a:prstGeom prst="roundRect">
            <a:avLst>
              <a:gd name="adj" fmla="val 2526"/>
            </a:avLst>
          </a:prstGeom>
          <a:solidFill>
            <a:srgbClr val="F5FAF8"/>
          </a:solidFill>
          <a:ln w="12700">
            <a:solidFill>
              <a:srgbClr val="DFE7E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68680" y="2020824"/>
            <a:ext cx="219456" cy="219456"/>
          </a:xfrm>
          <a:prstGeom prst="rect">
            <a:avLst/>
          </a:prstGeom>
          <a:solidFill>
            <a:srgbClr val="FFFFFF"/>
          </a:solidFill>
          <a:ln w="19050">
            <a:solidFill>
              <a:srgbClr val="F2A73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234440" y="1965960"/>
            <a:ext cx="97228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3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discuss opinions and give reasons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868680" y="2679192"/>
            <a:ext cx="219456" cy="219456"/>
          </a:xfrm>
          <a:prstGeom prst="rect">
            <a:avLst/>
          </a:prstGeom>
          <a:solidFill>
            <a:srgbClr val="FFFFFF"/>
          </a:solidFill>
          <a:ln w="19050">
            <a:solidFill>
              <a:srgbClr val="F2A73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234440" y="2624328"/>
            <a:ext cx="97228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3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a mix of past, present, and future naturally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868680" y="3337560"/>
            <a:ext cx="219456" cy="219456"/>
          </a:xfrm>
          <a:prstGeom prst="rect">
            <a:avLst/>
          </a:prstGeom>
          <a:solidFill>
            <a:srgbClr val="FFFFFF"/>
          </a:solidFill>
          <a:ln w="19050">
            <a:solidFill>
              <a:srgbClr val="F2A73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234440" y="3282696"/>
            <a:ext cx="97228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3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explain a word they forgot using other words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868680" y="3995928"/>
            <a:ext cx="219456" cy="219456"/>
          </a:xfrm>
          <a:prstGeom prst="rect">
            <a:avLst/>
          </a:prstGeom>
          <a:solidFill>
            <a:srgbClr val="FFFFFF"/>
          </a:solidFill>
          <a:ln w="19050">
            <a:solidFill>
              <a:srgbClr val="F2A73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234440" y="3941064"/>
            <a:ext cx="97228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3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idioms or phrasal verbs comfortably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868680" y="4654296"/>
            <a:ext cx="219456" cy="219456"/>
          </a:xfrm>
          <a:prstGeom prst="rect">
            <a:avLst/>
          </a:prstGeom>
          <a:solidFill>
            <a:srgbClr val="FFFFFF"/>
          </a:solidFill>
          <a:ln w="19050">
            <a:solidFill>
              <a:srgbClr val="F2A73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234440" y="4599432"/>
            <a:ext cx="97228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3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debate or compare two ideas in conversation</a:t>
            </a:r>
            <a:endParaRPr lang="en-US" sz="1450" dirty="0"/>
          </a:p>
        </p:txBody>
      </p:sp>
      <p:sp>
        <p:nvSpPr>
          <p:cNvPr id="17" name="Text 15"/>
          <p:cNvSpPr txBox="1"/>
          <p:nvPr/>
        </p:nvSpPr>
        <p:spPr>
          <a:xfrm>
            <a:off x="868680" y="5623560"/>
            <a:ext cx="104543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A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off what the student answers comfortably. Move to the next level only if most boxes are checked.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4A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 TO CHINA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7071055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Lesson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46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WRAP-UP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2296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3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Set the Starting Level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2567864" cy="100584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22225">
            <a:solidFill>
              <a:srgbClr val="1F8A5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737360"/>
            <a:ext cx="256786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3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Beginner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390824" y="1737360"/>
            <a:ext cx="2567864" cy="100584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22225">
            <a:solidFill>
              <a:srgbClr val="3E8F6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390824" y="1737360"/>
            <a:ext cx="256786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3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Beginner-High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233008" y="1737360"/>
            <a:ext cx="2567864" cy="100584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22225">
            <a:solidFill>
              <a:srgbClr val="1E4E8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233008" y="1737360"/>
            <a:ext cx="256786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3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Intermediate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9075191" y="1737360"/>
            <a:ext cx="2567864" cy="100584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22225">
            <a:solidFill>
              <a:srgbClr val="F2A73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075191" y="1737360"/>
            <a:ext cx="256786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3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Intermediate-High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28803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A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Circle the level that best matches today's answers.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429000"/>
            <a:ext cx="11094415" cy="265176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32436">
                <a:alpha val="18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868680" y="3639312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Regular Lesson Plan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868680" y="4114800"/>
            <a:ext cx="104543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starting topic: ______________________________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868680" y="4663440"/>
            <a:ext cx="104543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Suggested weekly time: __________________________________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868680" y="5212080"/>
            <a:ext cx="104543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Notes for the next volunteer / admin: ___________________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4A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 TO CHINA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7071055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Lesson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33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99855" y="-1463040"/>
            <a:ext cx="4754880" cy="4754880"/>
          </a:xfrm>
          <a:prstGeom prst="ellipse">
            <a:avLst/>
          </a:prstGeom>
          <a:solidFill>
            <a:srgbClr val="17436F"/>
          </a:solidFill>
          <a:ln/>
        </p:spPr>
      </p:sp>
      <p:sp>
        <p:nvSpPr>
          <p:cNvPr id="3" name="Shape 1"/>
          <p:cNvSpPr/>
          <p:nvPr/>
        </p:nvSpPr>
        <p:spPr>
          <a:xfrm>
            <a:off x="10180015" y="4480560"/>
            <a:ext cx="2926080" cy="2926080"/>
          </a:xfrm>
          <a:prstGeom prst="ellipse">
            <a:avLst/>
          </a:prstGeom>
          <a:solidFill>
            <a:srgbClr val="1B4E80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10515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7FD9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1 · SKILL-BASED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463040"/>
            <a:ext cx="9601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Pronunciation Basics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8803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7E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Level: Beginner   ·   Duration: 30 minutes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3703320"/>
            <a:ext cx="457200" cy="457200"/>
          </a:xfrm>
          <a:prstGeom prst="ellipse">
            <a:avLst/>
          </a:prstGeom>
          <a:solidFill>
            <a:srgbClr val="1F8A5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3703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188720" y="3703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7D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 in the fields below before your session begins.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4709160"/>
            <a:ext cx="25678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AFC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VOLUNTEER NAME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48640" y="5093208"/>
            <a:ext cx="2567864" cy="0"/>
          </a:xfrm>
          <a:prstGeom prst="line">
            <a:avLst/>
          </a:prstGeom>
          <a:noFill/>
          <a:ln w="12700">
            <a:solidFill>
              <a:srgbClr val="44608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390824" y="4709160"/>
            <a:ext cx="25678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AFC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NAME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390824" y="5093208"/>
            <a:ext cx="2567864" cy="0"/>
          </a:xfrm>
          <a:prstGeom prst="line">
            <a:avLst/>
          </a:prstGeom>
          <a:noFill/>
          <a:ln w="12700">
            <a:solidFill>
              <a:srgbClr val="44608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233008" y="4709160"/>
            <a:ext cx="25678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AFC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233008" y="5093208"/>
            <a:ext cx="2567864" cy="0"/>
          </a:xfrm>
          <a:prstGeom prst="line">
            <a:avLst/>
          </a:prstGeom>
          <a:noFill/>
          <a:ln w="12700">
            <a:solidFill>
              <a:srgbClr val="44608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075191" y="4709160"/>
            <a:ext cx="25678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AFC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#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9075191" y="5093208"/>
            <a:ext cx="2567864" cy="0"/>
          </a:xfrm>
          <a:prstGeom prst="line">
            <a:avLst/>
          </a:prstGeom>
          <a:noFill/>
          <a:ln w="12700">
            <a:solidFill>
              <a:srgbClr val="44608A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4864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AFC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 TO CHINA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7071055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FC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Pronunciation Basics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46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AREAS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2296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3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Pronunciation Basics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502920" cy="502920"/>
          </a:xfrm>
          <a:prstGeom prst="ellipse">
            <a:avLst/>
          </a:prstGeom>
          <a:solidFill>
            <a:srgbClr val="1F8A5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2011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325880" y="1920240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3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"TH" Sounds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325880" y="2350008"/>
            <a:ext cx="9875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A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Mastering the /ð/ (this) and /θ/ (think) sounds.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3218688"/>
            <a:ext cx="11091672" cy="0"/>
          </a:xfrm>
          <a:prstGeom prst="line">
            <a:avLst/>
          </a:prstGeom>
          <a:noFill/>
          <a:ln w="12700">
            <a:solidFill>
              <a:srgbClr val="DFE7E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3429000"/>
            <a:ext cx="502920" cy="502920"/>
          </a:xfrm>
          <a:prstGeom prst="ellipse">
            <a:avLst/>
          </a:prstGeom>
          <a:solidFill>
            <a:srgbClr val="1E4E8C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48640" y="3429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1325880" y="3337560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3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Ending Consonants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1325880" y="3767328"/>
            <a:ext cx="9875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A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Pronouncing final consonants (/t/, /d/, /p/, /k/) clearly, without dropping them or adding a vowel sound.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4636008"/>
            <a:ext cx="11091672" cy="0"/>
          </a:xfrm>
          <a:prstGeom prst="line">
            <a:avLst/>
          </a:prstGeom>
          <a:noFill/>
          <a:ln w="12700">
            <a:solidFill>
              <a:srgbClr val="DFE7E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4846320"/>
            <a:ext cx="502920" cy="502920"/>
          </a:xfrm>
          <a:prstGeom prst="ellipse">
            <a:avLst/>
          </a:prstGeom>
          <a:solidFill>
            <a:srgbClr val="F2A73B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48640" y="4846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1325880" y="4754880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3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 vs. R Distinction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1325880" y="5184648"/>
            <a:ext cx="9875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A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the tongue to clearly separate /l/ and /r/ sounds.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4A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 TO CHINA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7071055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Pronunciation Basics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46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 &amp; PRACTICE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2296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3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Pronunciation Basics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18608" cy="4343400"/>
          </a:xfrm>
          <a:prstGeom prst="roundRect">
            <a:avLst>
              <a:gd name="adj" fmla="val 2526"/>
            </a:avLst>
          </a:prstGeom>
          <a:solidFill>
            <a:srgbClr val="F5FAF8"/>
          </a:solidFill>
          <a:ln w="12700">
            <a:solidFill>
              <a:srgbClr val="DFE7E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892808"/>
            <a:ext cx="4769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46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SUGGESTED FLOW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28600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6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0:00–0:05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2057400" y="2286000"/>
            <a:ext cx="348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Warm-Up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2057400" y="2560320"/>
            <a:ext cx="34898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A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Greet the student, review last session's homework.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303580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6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0:05–0:10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2057400" y="3035808"/>
            <a:ext cx="348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Introduce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2057400" y="3310128"/>
            <a:ext cx="34898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A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 today's focus with clear examples.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3785616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6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0:10–0:20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2057400" y="3785616"/>
            <a:ext cx="348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 Practice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2057400" y="4059936"/>
            <a:ext cx="34898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A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together — repetition, sentences, role-play.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822960" y="4535424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6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0:20–0:27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2057400" y="4535424"/>
            <a:ext cx="348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Practice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2057400" y="4809744"/>
            <a:ext cx="34898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A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the focus in open conversation.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822960" y="528523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6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0:27–0:30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2057400" y="5285232"/>
            <a:ext cx="348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Wrap-Up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2057400" y="5559552"/>
            <a:ext cx="34898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A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Recap, assign homework, say goodbye.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324448" y="1691640"/>
            <a:ext cx="5318608" cy="4343400"/>
          </a:xfrm>
          <a:prstGeom prst="roundRect">
            <a:avLst>
              <a:gd name="adj" fmla="val 2526"/>
            </a:avLst>
          </a:prstGeom>
          <a:solidFill>
            <a:srgbClr val="FFFFFF"/>
          </a:solidFill>
          <a:ln w="15875">
            <a:solidFill>
              <a:srgbClr val="DFE7E4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598768" y="1892808"/>
            <a:ext cx="4769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E4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SPACE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6598768" y="2221992"/>
            <a:ext cx="47699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4A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3–4 example sentences or questions to practice this focus area with your student.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6598768" y="2926080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4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964528" y="3127248"/>
            <a:ext cx="4404208" cy="0"/>
          </a:xfrm>
          <a:prstGeom prst="line">
            <a:avLst/>
          </a:prstGeom>
          <a:noFill/>
          <a:ln w="12700">
            <a:solidFill>
              <a:srgbClr val="C7D3D0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598768" y="3675888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4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964528" y="3877056"/>
            <a:ext cx="4404208" cy="0"/>
          </a:xfrm>
          <a:prstGeom prst="line">
            <a:avLst/>
          </a:prstGeom>
          <a:noFill/>
          <a:ln w="12700">
            <a:solidFill>
              <a:srgbClr val="C7D3D0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598768" y="4425696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4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964528" y="4626864"/>
            <a:ext cx="4404208" cy="0"/>
          </a:xfrm>
          <a:prstGeom prst="line">
            <a:avLst/>
          </a:prstGeom>
          <a:noFill/>
          <a:ln w="12700">
            <a:solidFill>
              <a:srgbClr val="C7D3D0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598768" y="5175504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4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964528" y="5376672"/>
            <a:ext cx="4404208" cy="0"/>
          </a:xfrm>
          <a:prstGeom prst="line">
            <a:avLst/>
          </a:prstGeom>
          <a:noFill/>
          <a:ln w="12700">
            <a:solidFill>
              <a:srgbClr val="C7D3D0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54864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4A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 TO CHINA</a:t>
            </a:r>
            <a:endParaRPr lang="en-US" sz="900" dirty="0"/>
          </a:p>
        </p:txBody>
      </p:sp>
      <p:sp>
        <p:nvSpPr>
          <p:cNvPr id="33" name="Text 31"/>
          <p:cNvSpPr txBox="1"/>
          <p:nvPr/>
        </p:nvSpPr>
        <p:spPr>
          <a:xfrm>
            <a:off x="7071055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Pronunciation Basics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46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WRAP-UP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2296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3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Pronunciation Basics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18608" cy="301752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32436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920240"/>
            <a:ext cx="365760" cy="365760"/>
          </a:xfrm>
          <a:prstGeom prst="ellipse">
            <a:avLst/>
          </a:prstGeom>
          <a:solidFill>
            <a:srgbClr val="1F8A5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19202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325880" y="1920240"/>
            <a:ext cx="4312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Vocabulary &amp; Phrases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514600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6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170432" y="2715768"/>
            <a:ext cx="4404208" cy="0"/>
          </a:xfrm>
          <a:prstGeom prst="line">
            <a:avLst/>
          </a:prstGeom>
          <a:noFill/>
          <a:ln w="12700">
            <a:solidFill>
              <a:srgbClr val="C7D3D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22960" y="3044952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6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1170432" y="3246120"/>
            <a:ext cx="4404208" cy="0"/>
          </a:xfrm>
          <a:prstGeom prst="line">
            <a:avLst/>
          </a:prstGeom>
          <a:noFill/>
          <a:ln w="12700">
            <a:solidFill>
              <a:srgbClr val="C7D3D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22960" y="3575304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6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170432" y="3776472"/>
            <a:ext cx="4404208" cy="0"/>
          </a:xfrm>
          <a:prstGeom prst="line">
            <a:avLst/>
          </a:prstGeom>
          <a:noFill/>
          <a:ln w="12700">
            <a:solidFill>
              <a:srgbClr val="C7D3D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22960" y="4105656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6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170432" y="4306824"/>
            <a:ext cx="4404208" cy="0"/>
          </a:xfrm>
          <a:prstGeom prst="line">
            <a:avLst/>
          </a:prstGeom>
          <a:noFill/>
          <a:ln w="12700">
            <a:solidFill>
              <a:srgbClr val="C7D3D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324448" y="1691640"/>
            <a:ext cx="5318608" cy="301752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32436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598768" y="1920240"/>
            <a:ext cx="365760" cy="365760"/>
          </a:xfrm>
          <a:prstGeom prst="ellipse">
            <a:avLst/>
          </a:prstGeom>
          <a:solidFill>
            <a:srgbClr val="1E4E8C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598768" y="19202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7101688" y="1920240"/>
            <a:ext cx="4312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Homework &amp; Session Notes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598768" y="2514600"/>
            <a:ext cx="4769968" cy="0"/>
          </a:xfrm>
          <a:prstGeom prst="line">
            <a:avLst/>
          </a:prstGeom>
          <a:noFill/>
          <a:ln w="12700">
            <a:solidFill>
              <a:srgbClr val="C7D3D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598768" y="3044952"/>
            <a:ext cx="4769968" cy="0"/>
          </a:xfrm>
          <a:prstGeom prst="line">
            <a:avLst/>
          </a:prstGeom>
          <a:noFill/>
          <a:ln w="12700">
            <a:solidFill>
              <a:srgbClr val="C7D3D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598768" y="3575304"/>
            <a:ext cx="4769968" cy="0"/>
          </a:xfrm>
          <a:prstGeom prst="line">
            <a:avLst/>
          </a:prstGeom>
          <a:noFill/>
          <a:ln w="12700">
            <a:solidFill>
              <a:srgbClr val="C7D3D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598768" y="4105656"/>
            <a:ext cx="4769968" cy="0"/>
          </a:xfrm>
          <a:prstGeom prst="line">
            <a:avLst/>
          </a:prstGeom>
          <a:noFill/>
          <a:ln w="12700">
            <a:solidFill>
              <a:srgbClr val="C7D3D0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48640" y="507492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4A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 work today! Log this session's hours on your dashboard once it's complete.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54864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4A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 TO CHINA</a:t>
            </a:r>
            <a:endParaRPr lang="en-US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7071055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Pronunciation Basics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33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99855" y="-1463040"/>
            <a:ext cx="4754880" cy="4754880"/>
          </a:xfrm>
          <a:prstGeom prst="ellipse">
            <a:avLst/>
          </a:prstGeom>
          <a:solidFill>
            <a:srgbClr val="17436F"/>
          </a:solidFill>
          <a:ln/>
        </p:spPr>
      </p:sp>
      <p:sp>
        <p:nvSpPr>
          <p:cNvPr id="3" name="Shape 1"/>
          <p:cNvSpPr/>
          <p:nvPr/>
        </p:nvSpPr>
        <p:spPr>
          <a:xfrm>
            <a:off x="10180015" y="4480560"/>
            <a:ext cx="2926080" cy="2926080"/>
          </a:xfrm>
          <a:prstGeom prst="ellipse">
            <a:avLst/>
          </a:prstGeom>
          <a:solidFill>
            <a:srgbClr val="1B4E80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10515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7FD9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2 · SKILL-BASED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463040"/>
            <a:ext cx="9601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Functional Survival Phrases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8803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7E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Level: Beginner   ·   Duration: 30 minutes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3703320"/>
            <a:ext cx="457200" cy="457200"/>
          </a:xfrm>
          <a:prstGeom prst="ellipse">
            <a:avLst/>
          </a:prstGeom>
          <a:solidFill>
            <a:srgbClr val="1F8A5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3703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188720" y="3703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7D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 in the fields below before your session begins.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4709160"/>
            <a:ext cx="25678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AFC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VOLUNTEER NAME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48640" y="5093208"/>
            <a:ext cx="2567864" cy="0"/>
          </a:xfrm>
          <a:prstGeom prst="line">
            <a:avLst/>
          </a:prstGeom>
          <a:noFill/>
          <a:ln w="12700">
            <a:solidFill>
              <a:srgbClr val="44608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390824" y="4709160"/>
            <a:ext cx="25678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AFC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NAME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390824" y="5093208"/>
            <a:ext cx="2567864" cy="0"/>
          </a:xfrm>
          <a:prstGeom prst="line">
            <a:avLst/>
          </a:prstGeom>
          <a:noFill/>
          <a:ln w="12700">
            <a:solidFill>
              <a:srgbClr val="44608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233008" y="4709160"/>
            <a:ext cx="25678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AFC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233008" y="5093208"/>
            <a:ext cx="2567864" cy="0"/>
          </a:xfrm>
          <a:prstGeom prst="line">
            <a:avLst/>
          </a:prstGeom>
          <a:noFill/>
          <a:ln w="12700">
            <a:solidFill>
              <a:srgbClr val="44608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075191" y="4709160"/>
            <a:ext cx="25678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AFC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#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9075191" y="5093208"/>
            <a:ext cx="2567864" cy="0"/>
          </a:xfrm>
          <a:prstGeom prst="line">
            <a:avLst/>
          </a:prstGeom>
          <a:noFill/>
          <a:ln w="12700">
            <a:solidFill>
              <a:srgbClr val="44608A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4864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AFC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 TO CHINA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7071055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FC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Survival Phrases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46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AREAS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2296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3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Functional Survival Phrases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502920" cy="502920"/>
          </a:xfrm>
          <a:prstGeom prst="ellipse">
            <a:avLst/>
          </a:prstGeom>
          <a:solidFill>
            <a:srgbClr val="1F8A5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2011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325880" y="1920240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3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Requests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325880" y="2350008"/>
            <a:ext cx="9875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A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Asking for help, directions, prices, or clarification (e.g., "Could you repeat that?").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3218688"/>
            <a:ext cx="11091672" cy="0"/>
          </a:xfrm>
          <a:prstGeom prst="line">
            <a:avLst/>
          </a:prstGeom>
          <a:noFill/>
          <a:ln w="12700">
            <a:solidFill>
              <a:srgbClr val="DFE7E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3429000"/>
            <a:ext cx="502920" cy="502920"/>
          </a:xfrm>
          <a:prstGeom prst="ellipse">
            <a:avLst/>
          </a:prstGeom>
          <a:solidFill>
            <a:srgbClr val="1E4E8C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48640" y="3429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1325880" y="3337560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3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Self-Introduction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1325880" y="3767328"/>
            <a:ext cx="9875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A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Stating name, hometown, occupation, and basic hobbies.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4636008"/>
            <a:ext cx="11091672" cy="0"/>
          </a:xfrm>
          <a:prstGeom prst="line">
            <a:avLst/>
          </a:prstGeom>
          <a:noFill/>
          <a:ln w="12700">
            <a:solidFill>
              <a:srgbClr val="DFE7E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4846320"/>
            <a:ext cx="502920" cy="502920"/>
          </a:xfrm>
          <a:prstGeom prst="ellipse">
            <a:avLst/>
          </a:prstGeom>
          <a:solidFill>
            <a:srgbClr val="F2A73B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48640" y="4846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1325880" y="4754880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3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Polite Markers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1325880" y="5184648"/>
            <a:ext cx="9875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A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Moving past a direct translation style by using please, thank you, and excuse me.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4A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 TO CHINA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7071055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Survival Phrases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46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 &amp; PRACTICE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2296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3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Functional Survival Phrases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18608" cy="4343400"/>
          </a:xfrm>
          <a:prstGeom prst="roundRect">
            <a:avLst>
              <a:gd name="adj" fmla="val 2526"/>
            </a:avLst>
          </a:prstGeom>
          <a:solidFill>
            <a:srgbClr val="F5FAF8"/>
          </a:solidFill>
          <a:ln w="12700">
            <a:solidFill>
              <a:srgbClr val="DFE7E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892808"/>
            <a:ext cx="4769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46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SUGGESTED FLOW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28600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6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0:00–0:05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2057400" y="2286000"/>
            <a:ext cx="348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Warm-Up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2057400" y="2560320"/>
            <a:ext cx="34898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A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Greet the student, review last session's homework.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303580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6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0:05–0:10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2057400" y="3035808"/>
            <a:ext cx="348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Introduce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2057400" y="3310128"/>
            <a:ext cx="34898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A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 today's focus with clear examples.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3785616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6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0:10–0:20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2057400" y="3785616"/>
            <a:ext cx="348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 Practice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2057400" y="4059936"/>
            <a:ext cx="34898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A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together — repetition, sentences, role-play.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822960" y="4535424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6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0:20–0:27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2057400" y="4535424"/>
            <a:ext cx="348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Practice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2057400" y="4809744"/>
            <a:ext cx="34898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A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the focus in open conversation.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822960" y="528523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6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0:27–0:30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2057400" y="5285232"/>
            <a:ext cx="348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Wrap-Up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2057400" y="5559552"/>
            <a:ext cx="34898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A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Recap, assign homework, say goodbye.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324448" y="1691640"/>
            <a:ext cx="5318608" cy="4343400"/>
          </a:xfrm>
          <a:prstGeom prst="roundRect">
            <a:avLst>
              <a:gd name="adj" fmla="val 2526"/>
            </a:avLst>
          </a:prstGeom>
          <a:solidFill>
            <a:srgbClr val="FFFFFF"/>
          </a:solidFill>
          <a:ln w="15875">
            <a:solidFill>
              <a:srgbClr val="DFE7E4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598768" y="1892808"/>
            <a:ext cx="4769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E4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SPACE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6598768" y="2221992"/>
            <a:ext cx="47699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4A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3–4 example sentences or questions to practice this focus area with your student.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6598768" y="2926080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4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964528" y="3127248"/>
            <a:ext cx="4404208" cy="0"/>
          </a:xfrm>
          <a:prstGeom prst="line">
            <a:avLst/>
          </a:prstGeom>
          <a:noFill/>
          <a:ln w="12700">
            <a:solidFill>
              <a:srgbClr val="C7D3D0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598768" y="3675888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4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964528" y="3877056"/>
            <a:ext cx="4404208" cy="0"/>
          </a:xfrm>
          <a:prstGeom prst="line">
            <a:avLst/>
          </a:prstGeom>
          <a:noFill/>
          <a:ln w="12700">
            <a:solidFill>
              <a:srgbClr val="C7D3D0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598768" y="4425696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4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964528" y="4626864"/>
            <a:ext cx="4404208" cy="0"/>
          </a:xfrm>
          <a:prstGeom prst="line">
            <a:avLst/>
          </a:prstGeom>
          <a:noFill/>
          <a:ln w="12700">
            <a:solidFill>
              <a:srgbClr val="C7D3D0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598768" y="5175504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4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964528" y="5376672"/>
            <a:ext cx="4404208" cy="0"/>
          </a:xfrm>
          <a:prstGeom prst="line">
            <a:avLst/>
          </a:prstGeom>
          <a:noFill/>
          <a:ln w="12700">
            <a:solidFill>
              <a:srgbClr val="C7D3D0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54864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4A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 TO CHINA</a:t>
            </a:r>
            <a:endParaRPr lang="en-US" sz="900" dirty="0"/>
          </a:p>
        </p:txBody>
      </p:sp>
      <p:sp>
        <p:nvSpPr>
          <p:cNvPr id="33" name="Text 31"/>
          <p:cNvSpPr txBox="1"/>
          <p:nvPr/>
        </p:nvSpPr>
        <p:spPr>
          <a:xfrm>
            <a:off x="7071055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Survival Phrases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46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WRAP-UP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2296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3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Functional Survival Phrases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18608" cy="301752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32436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920240"/>
            <a:ext cx="365760" cy="365760"/>
          </a:xfrm>
          <a:prstGeom prst="ellipse">
            <a:avLst/>
          </a:prstGeom>
          <a:solidFill>
            <a:srgbClr val="1F8A5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19202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325880" y="1920240"/>
            <a:ext cx="4312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Vocabulary &amp; Phrases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514600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6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170432" y="2715768"/>
            <a:ext cx="4404208" cy="0"/>
          </a:xfrm>
          <a:prstGeom prst="line">
            <a:avLst/>
          </a:prstGeom>
          <a:noFill/>
          <a:ln w="12700">
            <a:solidFill>
              <a:srgbClr val="C7D3D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22960" y="3044952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6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1170432" y="3246120"/>
            <a:ext cx="4404208" cy="0"/>
          </a:xfrm>
          <a:prstGeom prst="line">
            <a:avLst/>
          </a:prstGeom>
          <a:noFill/>
          <a:ln w="12700">
            <a:solidFill>
              <a:srgbClr val="C7D3D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22960" y="3575304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6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170432" y="3776472"/>
            <a:ext cx="4404208" cy="0"/>
          </a:xfrm>
          <a:prstGeom prst="line">
            <a:avLst/>
          </a:prstGeom>
          <a:noFill/>
          <a:ln w="12700">
            <a:solidFill>
              <a:srgbClr val="C7D3D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22960" y="4105656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6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170432" y="4306824"/>
            <a:ext cx="4404208" cy="0"/>
          </a:xfrm>
          <a:prstGeom prst="line">
            <a:avLst/>
          </a:prstGeom>
          <a:noFill/>
          <a:ln w="12700">
            <a:solidFill>
              <a:srgbClr val="C7D3D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324448" y="1691640"/>
            <a:ext cx="5318608" cy="301752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32436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598768" y="1920240"/>
            <a:ext cx="365760" cy="365760"/>
          </a:xfrm>
          <a:prstGeom prst="ellipse">
            <a:avLst/>
          </a:prstGeom>
          <a:solidFill>
            <a:srgbClr val="1E4E8C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598768" y="19202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7101688" y="1920240"/>
            <a:ext cx="4312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Homework &amp; Session Notes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598768" y="2514600"/>
            <a:ext cx="4769968" cy="0"/>
          </a:xfrm>
          <a:prstGeom prst="line">
            <a:avLst/>
          </a:prstGeom>
          <a:noFill/>
          <a:ln w="12700">
            <a:solidFill>
              <a:srgbClr val="C7D3D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598768" y="3044952"/>
            <a:ext cx="4769968" cy="0"/>
          </a:xfrm>
          <a:prstGeom prst="line">
            <a:avLst/>
          </a:prstGeom>
          <a:noFill/>
          <a:ln w="12700">
            <a:solidFill>
              <a:srgbClr val="C7D3D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598768" y="3575304"/>
            <a:ext cx="4769968" cy="0"/>
          </a:xfrm>
          <a:prstGeom prst="line">
            <a:avLst/>
          </a:prstGeom>
          <a:noFill/>
          <a:ln w="12700">
            <a:solidFill>
              <a:srgbClr val="C7D3D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598768" y="4105656"/>
            <a:ext cx="4769968" cy="0"/>
          </a:xfrm>
          <a:prstGeom prst="line">
            <a:avLst/>
          </a:prstGeom>
          <a:noFill/>
          <a:ln w="12700">
            <a:solidFill>
              <a:srgbClr val="C7D3D0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48640" y="507492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4A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 work today! Log this session's hours on your dashboard once it's complete.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54864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4A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 TO CHINA</a:t>
            </a:r>
            <a:endParaRPr lang="en-US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7071055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Survival Phrases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33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99855" y="-1463040"/>
            <a:ext cx="4754880" cy="4754880"/>
          </a:xfrm>
          <a:prstGeom prst="ellipse">
            <a:avLst/>
          </a:prstGeom>
          <a:solidFill>
            <a:srgbClr val="17436F"/>
          </a:solidFill>
          <a:ln/>
        </p:spPr>
      </p:sp>
      <p:sp>
        <p:nvSpPr>
          <p:cNvPr id="3" name="Shape 1"/>
          <p:cNvSpPr/>
          <p:nvPr/>
        </p:nvSpPr>
        <p:spPr>
          <a:xfrm>
            <a:off x="10180015" y="4480560"/>
            <a:ext cx="2926080" cy="2926080"/>
          </a:xfrm>
          <a:prstGeom prst="ellipse">
            <a:avLst/>
          </a:prstGeom>
          <a:solidFill>
            <a:srgbClr val="1B4E80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10515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7FD9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3 · SKILL-BASED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463040"/>
            <a:ext cx="9601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Subject-Verb Mechanics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8803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7E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Level: Beginner   ·   Duration: 30 minutes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3703320"/>
            <a:ext cx="457200" cy="457200"/>
          </a:xfrm>
          <a:prstGeom prst="ellipse">
            <a:avLst/>
          </a:prstGeom>
          <a:solidFill>
            <a:srgbClr val="1F8A5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3703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188720" y="3703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7D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 in the fields below before your session begins.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4709160"/>
            <a:ext cx="25678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AFC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VOLUNTEER NAME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48640" y="5093208"/>
            <a:ext cx="2567864" cy="0"/>
          </a:xfrm>
          <a:prstGeom prst="line">
            <a:avLst/>
          </a:prstGeom>
          <a:noFill/>
          <a:ln w="12700">
            <a:solidFill>
              <a:srgbClr val="44608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390824" y="4709160"/>
            <a:ext cx="25678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AFC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NAME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390824" y="5093208"/>
            <a:ext cx="2567864" cy="0"/>
          </a:xfrm>
          <a:prstGeom prst="line">
            <a:avLst/>
          </a:prstGeom>
          <a:noFill/>
          <a:ln w="12700">
            <a:solidFill>
              <a:srgbClr val="44608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233008" y="4709160"/>
            <a:ext cx="25678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AFC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233008" y="5093208"/>
            <a:ext cx="2567864" cy="0"/>
          </a:xfrm>
          <a:prstGeom prst="line">
            <a:avLst/>
          </a:prstGeom>
          <a:noFill/>
          <a:ln w="12700">
            <a:solidFill>
              <a:srgbClr val="44608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075191" y="4709160"/>
            <a:ext cx="25678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AFC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#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9075191" y="5093208"/>
            <a:ext cx="2567864" cy="0"/>
          </a:xfrm>
          <a:prstGeom prst="line">
            <a:avLst/>
          </a:prstGeom>
          <a:noFill/>
          <a:ln w="12700">
            <a:solidFill>
              <a:srgbClr val="44608A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4864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AFC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 TO CHINA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7071055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FC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Subject-Verb Mechanics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46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AREAS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2296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3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Subject-Verb Mechanics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502920" cy="502920"/>
          </a:xfrm>
          <a:prstGeom prst="ellipse">
            <a:avLst/>
          </a:prstGeom>
          <a:solidFill>
            <a:srgbClr val="1F8A5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2011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325880" y="1920240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3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Gendered Pronouns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325880" y="2350008"/>
            <a:ext cx="9875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A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Breaking the habit of mixing up he and she in spoken conversation.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3218688"/>
            <a:ext cx="11091672" cy="0"/>
          </a:xfrm>
          <a:prstGeom prst="line">
            <a:avLst/>
          </a:prstGeom>
          <a:noFill/>
          <a:ln w="12700">
            <a:solidFill>
              <a:srgbClr val="DFE7E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3429000"/>
            <a:ext cx="502920" cy="502920"/>
          </a:xfrm>
          <a:prstGeom prst="ellipse">
            <a:avLst/>
          </a:prstGeom>
          <a:solidFill>
            <a:srgbClr val="1E4E8C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48640" y="3429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1325880" y="3337560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3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Singular vs. Plural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1325880" y="3767328"/>
            <a:ext cx="9875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A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Remembering to add plural "-s" or "-es" suffixes to nouns.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4636008"/>
            <a:ext cx="11091672" cy="0"/>
          </a:xfrm>
          <a:prstGeom prst="line">
            <a:avLst/>
          </a:prstGeom>
          <a:noFill/>
          <a:ln w="12700">
            <a:solidFill>
              <a:srgbClr val="DFE7E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4846320"/>
            <a:ext cx="502920" cy="502920"/>
          </a:xfrm>
          <a:prstGeom prst="ellipse">
            <a:avLst/>
          </a:prstGeom>
          <a:solidFill>
            <a:srgbClr val="F2A73B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48640" y="4846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1325880" y="4754880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3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Word Order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1325880" y="5184648"/>
            <a:ext cx="9875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A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Mastering Subject + Verb + Object structures without dropping verbs.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4A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 TO CHINA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7071055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Subject-Verb Mechanics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46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 &amp; PRACTICE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2296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3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Subject-Verb Mechanics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18608" cy="4343400"/>
          </a:xfrm>
          <a:prstGeom prst="roundRect">
            <a:avLst>
              <a:gd name="adj" fmla="val 2526"/>
            </a:avLst>
          </a:prstGeom>
          <a:solidFill>
            <a:srgbClr val="F5FAF8"/>
          </a:solidFill>
          <a:ln w="12700">
            <a:solidFill>
              <a:srgbClr val="DFE7E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892808"/>
            <a:ext cx="4769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46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SUGGESTED FLOW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28600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6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0:00–0:05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2057400" y="2286000"/>
            <a:ext cx="348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Warm-Up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2057400" y="2560320"/>
            <a:ext cx="34898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A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Greet the student, review last session's homework.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303580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6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0:05–0:10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2057400" y="3035808"/>
            <a:ext cx="348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Introduce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2057400" y="3310128"/>
            <a:ext cx="34898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A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 today's focus with clear examples.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3785616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6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0:10–0:20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2057400" y="3785616"/>
            <a:ext cx="348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 Practice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2057400" y="4059936"/>
            <a:ext cx="34898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A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together — repetition, sentences, role-play.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822960" y="4535424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6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0:20–0:27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2057400" y="4535424"/>
            <a:ext cx="348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Practice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2057400" y="4809744"/>
            <a:ext cx="34898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A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the focus in open conversation.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822960" y="528523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6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0:27–0:30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2057400" y="5285232"/>
            <a:ext cx="348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Wrap-Up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2057400" y="5559552"/>
            <a:ext cx="34898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A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Recap, assign homework, say goodbye.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324448" y="1691640"/>
            <a:ext cx="5318608" cy="4343400"/>
          </a:xfrm>
          <a:prstGeom prst="roundRect">
            <a:avLst>
              <a:gd name="adj" fmla="val 2526"/>
            </a:avLst>
          </a:prstGeom>
          <a:solidFill>
            <a:srgbClr val="FFFFFF"/>
          </a:solidFill>
          <a:ln w="15875">
            <a:solidFill>
              <a:srgbClr val="DFE7E4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598768" y="1892808"/>
            <a:ext cx="4769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E4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SPACE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6598768" y="2221992"/>
            <a:ext cx="47699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4A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3–4 example sentences or questions to practice this focus area with your student.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6598768" y="2926080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4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964528" y="3127248"/>
            <a:ext cx="4404208" cy="0"/>
          </a:xfrm>
          <a:prstGeom prst="line">
            <a:avLst/>
          </a:prstGeom>
          <a:noFill/>
          <a:ln w="12700">
            <a:solidFill>
              <a:srgbClr val="C7D3D0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598768" y="3675888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4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964528" y="3877056"/>
            <a:ext cx="4404208" cy="0"/>
          </a:xfrm>
          <a:prstGeom prst="line">
            <a:avLst/>
          </a:prstGeom>
          <a:noFill/>
          <a:ln w="12700">
            <a:solidFill>
              <a:srgbClr val="C7D3D0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598768" y="4425696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4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964528" y="4626864"/>
            <a:ext cx="4404208" cy="0"/>
          </a:xfrm>
          <a:prstGeom prst="line">
            <a:avLst/>
          </a:prstGeom>
          <a:noFill/>
          <a:ln w="12700">
            <a:solidFill>
              <a:srgbClr val="C7D3D0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598768" y="5175504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4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964528" y="5376672"/>
            <a:ext cx="4404208" cy="0"/>
          </a:xfrm>
          <a:prstGeom prst="line">
            <a:avLst/>
          </a:prstGeom>
          <a:noFill/>
          <a:ln w="12700">
            <a:solidFill>
              <a:srgbClr val="C7D3D0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54864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4A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 TO CHINA</a:t>
            </a:r>
            <a:endParaRPr lang="en-US" sz="900" dirty="0"/>
          </a:p>
        </p:txBody>
      </p:sp>
      <p:sp>
        <p:nvSpPr>
          <p:cNvPr id="33" name="Text 31"/>
          <p:cNvSpPr txBox="1"/>
          <p:nvPr/>
        </p:nvSpPr>
        <p:spPr>
          <a:xfrm>
            <a:off x="7071055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Subject-Verb Mechanics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5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46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WRAP-UP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2296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3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Subject-Verb Mechanics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18608" cy="301752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32436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920240"/>
            <a:ext cx="365760" cy="365760"/>
          </a:xfrm>
          <a:prstGeom prst="ellipse">
            <a:avLst/>
          </a:prstGeom>
          <a:solidFill>
            <a:srgbClr val="1F8A5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19202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325880" y="1920240"/>
            <a:ext cx="4312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Vocabulary &amp; Phrases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514600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6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170432" y="2715768"/>
            <a:ext cx="4404208" cy="0"/>
          </a:xfrm>
          <a:prstGeom prst="line">
            <a:avLst/>
          </a:prstGeom>
          <a:noFill/>
          <a:ln w="12700">
            <a:solidFill>
              <a:srgbClr val="C7D3D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22960" y="3044952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6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1170432" y="3246120"/>
            <a:ext cx="4404208" cy="0"/>
          </a:xfrm>
          <a:prstGeom prst="line">
            <a:avLst/>
          </a:prstGeom>
          <a:noFill/>
          <a:ln w="12700">
            <a:solidFill>
              <a:srgbClr val="C7D3D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22960" y="3575304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6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170432" y="3776472"/>
            <a:ext cx="4404208" cy="0"/>
          </a:xfrm>
          <a:prstGeom prst="line">
            <a:avLst/>
          </a:prstGeom>
          <a:noFill/>
          <a:ln w="12700">
            <a:solidFill>
              <a:srgbClr val="C7D3D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22960" y="4105656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6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170432" y="4306824"/>
            <a:ext cx="4404208" cy="0"/>
          </a:xfrm>
          <a:prstGeom prst="line">
            <a:avLst/>
          </a:prstGeom>
          <a:noFill/>
          <a:ln w="12700">
            <a:solidFill>
              <a:srgbClr val="C7D3D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324448" y="1691640"/>
            <a:ext cx="5318608" cy="301752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32436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598768" y="1920240"/>
            <a:ext cx="365760" cy="365760"/>
          </a:xfrm>
          <a:prstGeom prst="ellipse">
            <a:avLst/>
          </a:prstGeom>
          <a:solidFill>
            <a:srgbClr val="1E4E8C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598768" y="19202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7101688" y="1920240"/>
            <a:ext cx="4312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Homework &amp; Session Notes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598768" y="2514600"/>
            <a:ext cx="4769968" cy="0"/>
          </a:xfrm>
          <a:prstGeom prst="line">
            <a:avLst/>
          </a:prstGeom>
          <a:noFill/>
          <a:ln w="12700">
            <a:solidFill>
              <a:srgbClr val="C7D3D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598768" y="3044952"/>
            <a:ext cx="4769968" cy="0"/>
          </a:xfrm>
          <a:prstGeom prst="line">
            <a:avLst/>
          </a:prstGeom>
          <a:noFill/>
          <a:ln w="12700">
            <a:solidFill>
              <a:srgbClr val="C7D3D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598768" y="3575304"/>
            <a:ext cx="4769968" cy="0"/>
          </a:xfrm>
          <a:prstGeom prst="line">
            <a:avLst/>
          </a:prstGeom>
          <a:noFill/>
          <a:ln w="12700">
            <a:solidFill>
              <a:srgbClr val="C7D3D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598768" y="4105656"/>
            <a:ext cx="4769968" cy="0"/>
          </a:xfrm>
          <a:prstGeom prst="line">
            <a:avLst/>
          </a:prstGeom>
          <a:noFill/>
          <a:ln w="12700">
            <a:solidFill>
              <a:srgbClr val="C7D3D0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48640" y="507492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4A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 work today! Log this session's hours on your dashboard once it's complete.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54864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4A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 TO CHINA</a:t>
            </a:r>
            <a:endParaRPr lang="en-US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7071055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Subject-Verb Mechanics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33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99855" y="-1463040"/>
            <a:ext cx="4754880" cy="4754880"/>
          </a:xfrm>
          <a:prstGeom prst="ellipse">
            <a:avLst/>
          </a:prstGeom>
          <a:solidFill>
            <a:srgbClr val="17436F"/>
          </a:solidFill>
          <a:ln/>
        </p:spPr>
      </p:sp>
      <p:sp>
        <p:nvSpPr>
          <p:cNvPr id="3" name="Shape 1"/>
          <p:cNvSpPr/>
          <p:nvPr/>
        </p:nvSpPr>
        <p:spPr>
          <a:xfrm>
            <a:off x="10180015" y="4480560"/>
            <a:ext cx="2926080" cy="2926080"/>
          </a:xfrm>
          <a:prstGeom prst="ellipse">
            <a:avLst/>
          </a:prstGeom>
          <a:solidFill>
            <a:srgbClr val="1B4E80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10515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7FD9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4 · SKILL-BASED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463040"/>
            <a:ext cx="9601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Basic Timeline Shifts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8803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7E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Level: Beginner-High   ·   Duration: 30 minutes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3703320"/>
            <a:ext cx="457200" cy="457200"/>
          </a:xfrm>
          <a:prstGeom prst="ellipse">
            <a:avLst/>
          </a:prstGeom>
          <a:solidFill>
            <a:srgbClr val="1F8A5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3703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188720" y="3703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7D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 in the fields below before your session begins.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4709160"/>
            <a:ext cx="25678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AFC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VOLUNTEER NAME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48640" y="5093208"/>
            <a:ext cx="2567864" cy="0"/>
          </a:xfrm>
          <a:prstGeom prst="line">
            <a:avLst/>
          </a:prstGeom>
          <a:noFill/>
          <a:ln w="12700">
            <a:solidFill>
              <a:srgbClr val="44608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390824" y="4709160"/>
            <a:ext cx="25678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AFC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NAME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390824" y="5093208"/>
            <a:ext cx="2567864" cy="0"/>
          </a:xfrm>
          <a:prstGeom prst="line">
            <a:avLst/>
          </a:prstGeom>
          <a:noFill/>
          <a:ln w="12700">
            <a:solidFill>
              <a:srgbClr val="44608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233008" y="4709160"/>
            <a:ext cx="25678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AFC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233008" y="5093208"/>
            <a:ext cx="2567864" cy="0"/>
          </a:xfrm>
          <a:prstGeom prst="line">
            <a:avLst/>
          </a:prstGeom>
          <a:noFill/>
          <a:ln w="12700">
            <a:solidFill>
              <a:srgbClr val="44608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075191" y="4709160"/>
            <a:ext cx="25678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AFC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#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9075191" y="5093208"/>
            <a:ext cx="2567864" cy="0"/>
          </a:xfrm>
          <a:prstGeom prst="line">
            <a:avLst/>
          </a:prstGeom>
          <a:noFill/>
          <a:ln w="12700">
            <a:solidFill>
              <a:srgbClr val="44608A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4864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AFC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 TO CHINA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7071055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FC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Timeline Shifts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46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AREAS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2296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3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Basic Timeline Shifts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502920" cy="502920"/>
          </a:xfrm>
          <a:prstGeom prst="ellipse">
            <a:avLst/>
          </a:prstGeom>
          <a:solidFill>
            <a:srgbClr val="1F8A5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2011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325880" y="1920240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3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 vs. Present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325880" y="2350008"/>
            <a:ext cx="9875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A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Moving from time markers (like "yesterday") to changing the verb form (go to went).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3218688"/>
            <a:ext cx="11091672" cy="0"/>
          </a:xfrm>
          <a:prstGeom prst="line">
            <a:avLst/>
          </a:prstGeom>
          <a:noFill/>
          <a:ln w="12700">
            <a:solidFill>
              <a:srgbClr val="DFE7E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3429000"/>
            <a:ext cx="502920" cy="502920"/>
          </a:xfrm>
          <a:prstGeom prst="ellipse">
            <a:avLst/>
          </a:prstGeom>
          <a:solidFill>
            <a:srgbClr val="1E4E8C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48640" y="3429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1325880" y="3337560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3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Tense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1325880" y="3767328"/>
            <a:ext cx="9875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A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will and going to for upcoming actions.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4636008"/>
            <a:ext cx="11091672" cy="0"/>
          </a:xfrm>
          <a:prstGeom prst="line">
            <a:avLst/>
          </a:prstGeom>
          <a:noFill/>
          <a:ln w="12700">
            <a:solidFill>
              <a:srgbClr val="DFE7E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4846320"/>
            <a:ext cx="502920" cy="502920"/>
          </a:xfrm>
          <a:prstGeom prst="ellipse">
            <a:avLst/>
          </a:prstGeom>
          <a:solidFill>
            <a:srgbClr val="F2A73B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48640" y="4846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1325880" y="4754880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3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Actions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1325880" y="5184648"/>
            <a:ext cx="9875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A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the "-ing" form for things happening right now.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4A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 TO CHINA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7071055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Timeline Shifts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46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 &amp; PRACTICE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2296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3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Basic Timeline Shifts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18608" cy="4343400"/>
          </a:xfrm>
          <a:prstGeom prst="roundRect">
            <a:avLst>
              <a:gd name="adj" fmla="val 2526"/>
            </a:avLst>
          </a:prstGeom>
          <a:solidFill>
            <a:srgbClr val="F5FAF8"/>
          </a:solidFill>
          <a:ln w="12700">
            <a:solidFill>
              <a:srgbClr val="DFE7E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892808"/>
            <a:ext cx="4769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46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SUGGESTED FLOW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28600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6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0:00–0:05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2057400" y="2286000"/>
            <a:ext cx="348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Warm-Up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2057400" y="2560320"/>
            <a:ext cx="34898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A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Greet the student, review last session's homework.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303580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6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0:05–0:10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2057400" y="3035808"/>
            <a:ext cx="348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Introduce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2057400" y="3310128"/>
            <a:ext cx="34898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A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 today's focus with clear examples.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3785616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6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0:10–0:20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2057400" y="3785616"/>
            <a:ext cx="348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 Practice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2057400" y="4059936"/>
            <a:ext cx="34898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A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together — repetition, sentences, role-play.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822960" y="4535424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6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0:20–0:27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2057400" y="4535424"/>
            <a:ext cx="348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Practice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2057400" y="4809744"/>
            <a:ext cx="34898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A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the focus in open conversation.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822960" y="528523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6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0:27–0:30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2057400" y="5285232"/>
            <a:ext cx="348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Wrap-Up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2057400" y="5559552"/>
            <a:ext cx="34898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A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Recap, assign homework, say goodbye.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324448" y="1691640"/>
            <a:ext cx="5318608" cy="4343400"/>
          </a:xfrm>
          <a:prstGeom prst="roundRect">
            <a:avLst>
              <a:gd name="adj" fmla="val 2526"/>
            </a:avLst>
          </a:prstGeom>
          <a:solidFill>
            <a:srgbClr val="FFFFFF"/>
          </a:solidFill>
          <a:ln w="15875">
            <a:solidFill>
              <a:srgbClr val="DFE7E4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598768" y="1892808"/>
            <a:ext cx="4769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E4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SPACE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6598768" y="2221992"/>
            <a:ext cx="47699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4A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3–4 example sentences or questions to practice this focus area with your student.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6598768" y="2926080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4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964528" y="3127248"/>
            <a:ext cx="4404208" cy="0"/>
          </a:xfrm>
          <a:prstGeom prst="line">
            <a:avLst/>
          </a:prstGeom>
          <a:noFill/>
          <a:ln w="12700">
            <a:solidFill>
              <a:srgbClr val="C7D3D0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598768" y="3675888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4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964528" y="3877056"/>
            <a:ext cx="4404208" cy="0"/>
          </a:xfrm>
          <a:prstGeom prst="line">
            <a:avLst/>
          </a:prstGeom>
          <a:noFill/>
          <a:ln w="12700">
            <a:solidFill>
              <a:srgbClr val="C7D3D0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598768" y="4425696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4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964528" y="4626864"/>
            <a:ext cx="4404208" cy="0"/>
          </a:xfrm>
          <a:prstGeom prst="line">
            <a:avLst/>
          </a:prstGeom>
          <a:noFill/>
          <a:ln w="12700">
            <a:solidFill>
              <a:srgbClr val="C7D3D0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598768" y="5175504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4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964528" y="5376672"/>
            <a:ext cx="4404208" cy="0"/>
          </a:xfrm>
          <a:prstGeom prst="line">
            <a:avLst/>
          </a:prstGeom>
          <a:noFill/>
          <a:ln w="12700">
            <a:solidFill>
              <a:srgbClr val="C7D3D0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54864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4A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 TO CHINA</a:t>
            </a:r>
            <a:endParaRPr lang="en-US" sz="900" dirty="0"/>
          </a:p>
        </p:txBody>
      </p:sp>
      <p:sp>
        <p:nvSpPr>
          <p:cNvPr id="33" name="Text 31"/>
          <p:cNvSpPr txBox="1"/>
          <p:nvPr/>
        </p:nvSpPr>
        <p:spPr>
          <a:xfrm>
            <a:off x="7071055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Timeline Shifts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5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46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WRAP-UP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2296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3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Basic Timeline Shifts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18608" cy="301752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32436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920240"/>
            <a:ext cx="365760" cy="365760"/>
          </a:xfrm>
          <a:prstGeom prst="ellipse">
            <a:avLst/>
          </a:prstGeom>
          <a:solidFill>
            <a:srgbClr val="1F8A5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19202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325880" y="1920240"/>
            <a:ext cx="4312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Vocabulary &amp; Phrases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514600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6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170432" y="2715768"/>
            <a:ext cx="4404208" cy="0"/>
          </a:xfrm>
          <a:prstGeom prst="line">
            <a:avLst/>
          </a:prstGeom>
          <a:noFill/>
          <a:ln w="12700">
            <a:solidFill>
              <a:srgbClr val="C7D3D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22960" y="3044952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6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1170432" y="3246120"/>
            <a:ext cx="4404208" cy="0"/>
          </a:xfrm>
          <a:prstGeom prst="line">
            <a:avLst/>
          </a:prstGeom>
          <a:noFill/>
          <a:ln w="12700">
            <a:solidFill>
              <a:srgbClr val="C7D3D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22960" y="3575304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6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170432" y="3776472"/>
            <a:ext cx="4404208" cy="0"/>
          </a:xfrm>
          <a:prstGeom prst="line">
            <a:avLst/>
          </a:prstGeom>
          <a:noFill/>
          <a:ln w="12700">
            <a:solidFill>
              <a:srgbClr val="C7D3D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22960" y="4105656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6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170432" y="4306824"/>
            <a:ext cx="4404208" cy="0"/>
          </a:xfrm>
          <a:prstGeom prst="line">
            <a:avLst/>
          </a:prstGeom>
          <a:noFill/>
          <a:ln w="12700">
            <a:solidFill>
              <a:srgbClr val="C7D3D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324448" y="1691640"/>
            <a:ext cx="5318608" cy="301752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32436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598768" y="1920240"/>
            <a:ext cx="365760" cy="365760"/>
          </a:xfrm>
          <a:prstGeom prst="ellipse">
            <a:avLst/>
          </a:prstGeom>
          <a:solidFill>
            <a:srgbClr val="1E4E8C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598768" y="19202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7101688" y="1920240"/>
            <a:ext cx="4312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Homework &amp; Session Notes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598768" y="2514600"/>
            <a:ext cx="4769968" cy="0"/>
          </a:xfrm>
          <a:prstGeom prst="line">
            <a:avLst/>
          </a:prstGeom>
          <a:noFill/>
          <a:ln w="12700">
            <a:solidFill>
              <a:srgbClr val="C7D3D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598768" y="3044952"/>
            <a:ext cx="4769968" cy="0"/>
          </a:xfrm>
          <a:prstGeom prst="line">
            <a:avLst/>
          </a:prstGeom>
          <a:noFill/>
          <a:ln w="12700">
            <a:solidFill>
              <a:srgbClr val="C7D3D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598768" y="3575304"/>
            <a:ext cx="4769968" cy="0"/>
          </a:xfrm>
          <a:prstGeom prst="line">
            <a:avLst/>
          </a:prstGeom>
          <a:noFill/>
          <a:ln w="12700">
            <a:solidFill>
              <a:srgbClr val="C7D3D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598768" y="4105656"/>
            <a:ext cx="4769968" cy="0"/>
          </a:xfrm>
          <a:prstGeom prst="line">
            <a:avLst/>
          </a:prstGeom>
          <a:noFill/>
          <a:ln w="12700">
            <a:solidFill>
              <a:srgbClr val="C7D3D0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48640" y="507492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4A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 work today! Log this session's hours on your dashboard once it's complete.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54864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4A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 TO CHINA</a:t>
            </a:r>
            <a:endParaRPr lang="en-US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7071055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Timeline Shifts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33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99855" y="-1463040"/>
            <a:ext cx="4754880" cy="4754880"/>
          </a:xfrm>
          <a:prstGeom prst="ellipse">
            <a:avLst/>
          </a:prstGeom>
          <a:solidFill>
            <a:srgbClr val="17436F"/>
          </a:solidFill>
          <a:ln/>
        </p:spPr>
      </p:sp>
      <p:sp>
        <p:nvSpPr>
          <p:cNvPr id="3" name="Shape 1"/>
          <p:cNvSpPr/>
          <p:nvPr/>
        </p:nvSpPr>
        <p:spPr>
          <a:xfrm>
            <a:off x="10180015" y="4480560"/>
            <a:ext cx="2926080" cy="2926080"/>
          </a:xfrm>
          <a:prstGeom prst="ellipse">
            <a:avLst/>
          </a:prstGeom>
          <a:solidFill>
            <a:srgbClr val="1B4E80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10515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7FD9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5 · SKILL-BASED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463040"/>
            <a:ext cx="9601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Determiners and Connectors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8803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7E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Level: Beginner-High   ·   Duration: 30 minutes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3703320"/>
            <a:ext cx="457200" cy="457200"/>
          </a:xfrm>
          <a:prstGeom prst="ellipse">
            <a:avLst/>
          </a:prstGeom>
          <a:solidFill>
            <a:srgbClr val="1F8A5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3703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188720" y="3703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7D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 in the fields below before your session begins.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4709160"/>
            <a:ext cx="25678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AFC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VOLUNTEER NAME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48640" y="5093208"/>
            <a:ext cx="2567864" cy="0"/>
          </a:xfrm>
          <a:prstGeom prst="line">
            <a:avLst/>
          </a:prstGeom>
          <a:noFill/>
          <a:ln w="12700">
            <a:solidFill>
              <a:srgbClr val="44608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390824" y="4709160"/>
            <a:ext cx="25678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AFC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NAME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390824" y="5093208"/>
            <a:ext cx="2567864" cy="0"/>
          </a:xfrm>
          <a:prstGeom prst="line">
            <a:avLst/>
          </a:prstGeom>
          <a:noFill/>
          <a:ln w="12700">
            <a:solidFill>
              <a:srgbClr val="44608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233008" y="4709160"/>
            <a:ext cx="25678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AFC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233008" y="5093208"/>
            <a:ext cx="2567864" cy="0"/>
          </a:xfrm>
          <a:prstGeom prst="line">
            <a:avLst/>
          </a:prstGeom>
          <a:noFill/>
          <a:ln w="12700">
            <a:solidFill>
              <a:srgbClr val="44608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075191" y="4709160"/>
            <a:ext cx="25678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AFC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#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9075191" y="5093208"/>
            <a:ext cx="2567864" cy="0"/>
          </a:xfrm>
          <a:prstGeom prst="line">
            <a:avLst/>
          </a:prstGeom>
          <a:noFill/>
          <a:ln w="12700">
            <a:solidFill>
              <a:srgbClr val="44608A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4864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AFC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 TO CHINA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7071055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FC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Determiners and Connectors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46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AREAS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2296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3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Determiners and Connectors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502920" cy="502920"/>
          </a:xfrm>
          <a:prstGeom prst="ellipse">
            <a:avLst/>
          </a:prstGeom>
          <a:solidFill>
            <a:srgbClr val="1F8A5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2011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325880" y="1920240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3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Articles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325880" y="2350008"/>
            <a:ext cx="9875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A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when to use a, an, and the (concepts that don't exist in Chinese grammar).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3218688"/>
            <a:ext cx="11091672" cy="0"/>
          </a:xfrm>
          <a:prstGeom prst="line">
            <a:avLst/>
          </a:prstGeom>
          <a:noFill/>
          <a:ln w="12700">
            <a:solidFill>
              <a:srgbClr val="DFE7E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3429000"/>
            <a:ext cx="502920" cy="502920"/>
          </a:xfrm>
          <a:prstGeom prst="ellipse">
            <a:avLst/>
          </a:prstGeom>
          <a:solidFill>
            <a:srgbClr val="1E4E8C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48640" y="3429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1325880" y="3337560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3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Prepositions of Place/Time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1325880" y="3767328"/>
            <a:ext cx="9875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A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Correctly applying in, on, and at for locations and dates.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4636008"/>
            <a:ext cx="11091672" cy="0"/>
          </a:xfrm>
          <a:prstGeom prst="line">
            <a:avLst/>
          </a:prstGeom>
          <a:noFill/>
          <a:ln w="12700">
            <a:solidFill>
              <a:srgbClr val="DFE7E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4846320"/>
            <a:ext cx="502920" cy="502920"/>
          </a:xfrm>
          <a:prstGeom prst="ellipse">
            <a:avLst/>
          </a:prstGeom>
          <a:solidFill>
            <a:srgbClr val="F2A73B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48640" y="4846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1325880" y="4754880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3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Conjunctions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1325880" y="5184648"/>
            <a:ext cx="9875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A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Linking ideas logically using and, but, because, and so.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4A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 TO CHINA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7071055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Determiners and Connectors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46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 &amp; PRACTICE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2296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3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Determiners and Connectors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18608" cy="4343400"/>
          </a:xfrm>
          <a:prstGeom prst="roundRect">
            <a:avLst>
              <a:gd name="adj" fmla="val 2526"/>
            </a:avLst>
          </a:prstGeom>
          <a:solidFill>
            <a:srgbClr val="F5FAF8"/>
          </a:solidFill>
          <a:ln w="12700">
            <a:solidFill>
              <a:srgbClr val="DFE7E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892808"/>
            <a:ext cx="4769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46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SUGGESTED FLOW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28600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6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0:00–0:05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2057400" y="2286000"/>
            <a:ext cx="348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Warm-Up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2057400" y="2560320"/>
            <a:ext cx="34898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A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Greet the student, review last session's homework.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303580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6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0:05–0:10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2057400" y="3035808"/>
            <a:ext cx="348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Introduce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2057400" y="3310128"/>
            <a:ext cx="34898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A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 today's focus with clear examples.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3785616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6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0:10–0:20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2057400" y="3785616"/>
            <a:ext cx="348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 Practice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2057400" y="4059936"/>
            <a:ext cx="34898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A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together — repetition, sentences, role-play.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822960" y="4535424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6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0:20–0:27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2057400" y="4535424"/>
            <a:ext cx="348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Practice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2057400" y="4809744"/>
            <a:ext cx="34898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A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the focus in open conversation.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822960" y="528523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6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0:27–0:30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2057400" y="5285232"/>
            <a:ext cx="348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Wrap-Up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2057400" y="5559552"/>
            <a:ext cx="34898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A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Recap, assign homework, say goodbye.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324448" y="1691640"/>
            <a:ext cx="5318608" cy="4343400"/>
          </a:xfrm>
          <a:prstGeom prst="roundRect">
            <a:avLst>
              <a:gd name="adj" fmla="val 2526"/>
            </a:avLst>
          </a:prstGeom>
          <a:solidFill>
            <a:srgbClr val="FFFFFF"/>
          </a:solidFill>
          <a:ln w="15875">
            <a:solidFill>
              <a:srgbClr val="DFE7E4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598768" y="1892808"/>
            <a:ext cx="4769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E4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SPACE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6598768" y="2221992"/>
            <a:ext cx="47699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4A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3–4 example sentences or questions to practice this focus area with your student.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6598768" y="2926080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4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964528" y="3127248"/>
            <a:ext cx="4404208" cy="0"/>
          </a:xfrm>
          <a:prstGeom prst="line">
            <a:avLst/>
          </a:prstGeom>
          <a:noFill/>
          <a:ln w="12700">
            <a:solidFill>
              <a:srgbClr val="C7D3D0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598768" y="3675888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4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964528" y="3877056"/>
            <a:ext cx="4404208" cy="0"/>
          </a:xfrm>
          <a:prstGeom prst="line">
            <a:avLst/>
          </a:prstGeom>
          <a:noFill/>
          <a:ln w="12700">
            <a:solidFill>
              <a:srgbClr val="C7D3D0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598768" y="4425696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4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964528" y="4626864"/>
            <a:ext cx="4404208" cy="0"/>
          </a:xfrm>
          <a:prstGeom prst="line">
            <a:avLst/>
          </a:prstGeom>
          <a:noFill/>
          <a:ln w="12700">
            <a:solidFill>
              <a:srgbClr val="C7D3D0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598768" y="5175504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4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964528" y="5376672"/>
            <a:ext cx="4404208" cy="0"/>
          </a:xfrm>
          <a:prstGeom prst="line">
            <a:avLst/>
          </a:prstGeom>
          <a:noFill/>
          <a:ln w="12700">
            <a:solidFill>
              <a:srgbClr val="C7D3D0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54864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4A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 TO CHINA</a:t>
            </a:r>
            <a:endParaRPr lang="en-US" sz="900" dirty="0"/>
          </a:p>
        </p:txBody>
      </p:sp>
      <p:sp>
        <p:nvSpPr>
          <p:cNvPr id="33" name="Text 31"/>
          <p:cNvSpPr txBox="1"/>
          <p:nvPr/>
        </p:nvSpPr>
        <p:spPr>
          <a:xfrm>
            <a:off x="7071055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Determiners and Connectors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5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46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WRAP-UP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2296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3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Determiners and Connectors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18608" cy="301752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32436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920240"/>
            <a:ext cx="365760" cy="365760"/>
          </a:xfrm>
          <a:prstGeom prst="ellipse">
            <a:avLst/>
          </a:prstGeom>
          <a:solidFill>
            <a:srgbClr val="1F8A5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19202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325880" y="1920240"/>
            <a:ext cx="4312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Vocabulary &amp; Phrases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514600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6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170432" y="2715768"/>
            <a:ext cx="4404208" cy="0"/>
          </a:xfrm>
          <a:prstGeom prst="line">
            <a:avLst/>
          </a:prstGeom>
          <a:noFill/>
          <a:ln w="12700">
            <a:solidFill>
              <a:srgbClr val="C7D3D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22960" y="3044952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6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1170432" y="3246120"/>
            <a:ext cx="4404208" cy="0"/>
          </a:xfrm>
          <a:prstGeom prst="line">
            <a:avLst/>
          </a:prstGeom>
          <a:noFill/>
          <a:ln w="12700">
            <a:solidFill>
              <a:srgbClr val="C7D3D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22960" y="3575304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6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170432" y="3776472"/>
            <a:ext cx="4404208" cy="0"/>
          </a:xfrm>
          <a:prstGeom prst="line">
            <a:avLst/>
          </a:prstGeom>
          <a:noFill/>
          <a:ln w="12700">
            <a:solidFill>
              <a:srgbClr val="C7D3D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22960" y="4105656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6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170432" y="4306824"/>
            <a:ext cx="4404208" cy="0"/>
          </a:xfrm>
          <a:prstGeom prst="line">
            <a:avLst/>
          </a:prstGeom>
          <a:noFill/>
          <a:ln w="12700">
            <a:solidFill>
              <a:srgbClr val="C7D3D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324448" y="1691640"/>
            <a:ext cx="5318608" cy="301752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32436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598768" y="1920240"/>
            <a:ext cx="365760" cy="365760"/>
          </a:xfrm>
          <a:prstGeom prst="ellipse">
            <a:avLst/>
          </a:prstGeom>
          <a:solidFill>
            <a:srgbClr val="1E4E8C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598768" y="19202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7101688" y="1920240"/>
            <a:ext cx="4312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Homework &amp; Session Notes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598768" y="2514600"/>
            <a:ext cx="4769968" cy="0"/>
          </a:xfrm>
          <a:prstGeom prst="line">
            <a:avLst/>
          </a:prstGeom>
          <a:noFill/>
          <a:ln w="12700">
            <a:solidFill>
              <a:srgbClr val="C7D3D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598768" y="3044952"/>
            <a:ext cx="4769968" cy="0"/>
          </a:xfrm>
          <a:prstGeom prst="line">
            <a:avLst/>
          </a:prstGeom>
          <a:noFill/>
          <a:ln w="12700">
            <a:solidFill>
              <a:srgbClr val="C7D3D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598768" y="3575304"/>
            <a:ext cx="4769968" cy="0"/>
          </a:xfrm>
          <a:prstGeom prst="line">
            <a:avLst/>
          </a:prstGeom>
          <a:noFill/>
          <a:ln w="12700">
            <a:solidFill>
              <a:srgbClr val="C7D3D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598768" y="4105656"/>
            <a:ext cx="4769968" cy="0"/>
          </a:xfrm>
          <a:prstGeom prst="line">
            <a:avLst/>
          </a:prstGeom>
          <a:noFill/>
          <a:ln w="12700">
            <a:solidFill>
              <a:srgbClr val="C7D3D0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48640" y="507492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4A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 work today! Log this session's hours on your dashboard once it's complete.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54864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4A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 TO CHINA</a:t>
            </a:r>
            <a:endParaRPr lang="en-US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7071055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Determiners and Connectors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133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99855" y="-1463040"/>
            <a:ext cx="4754880" cy="4754880"/>
          </a:xfrm>
          <a:prstGeom prst="ellipse">
            <a:avLst/>
          </a:prstGeom>
          <a:solidFill>
            <a:srgbClr val="17436F"/>
          </a:solidFill>
          <a:ln/>
        </p:spPr>
      </p:sp>
      <p:sp>
        <p:nvSpPr>
          <p:cNvPr id="3" name="Shape 1"/>
          <p:cNvSpPr/>
          <p:nvPr/>
        </p:nvSpPr>
        <p:spPr>
          <a:xfrm>
            <a:off x="10180015" y="4480560"/>
            <a:ext cx="2926080" cy="2926080"/>
          </a:xfrm>
          <a:prstGeom prst="ellipse">
            <a:avLst/>
          </a:prstGeom>
          <a:solidFill>
            <a:srgbClr val="1B4E80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10515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7FD9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6 · SKILL-BASED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463040"/>
            <a:ext cx="9601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Sentence Rhythm and Intonation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8803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7E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Level: Intermediate-Low   ·   Duration: 30 minutes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3703320"/>
            <a:ext cx="457200" cy="457200"/>
          </a:xfrm>
          <a:prstGeom prst="ellipse">
            <a:avLst/>
          </a:prstGeom>
          <a:solidFill>
            <a:srgbClr val="1F8A5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3703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188720" y="3703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7D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 in the fields below before your session begins.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4709160"/>
            <a:ext cx="25678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AFC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VOLUNTEER NAME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48640" y="5093208"/>
            <a:ext cx="2567864" cy="0"/>
          </a:xfrm>
          <a:prstGeom prst="line">
            <a:avLst/>
          </a:prstGeom>
          <a:noFill/>
          <a:ln w="12700">
            <a:solidFill>
              <a:srgbClr val="44608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390824" y="4709160"/>
            <a:ext cx="25678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AFC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NAME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390824" y="5093208"/>
            <a:ext cx="2567864" cy="0"/>
          </a:xfrm>
          <a:prstGeom prst="line">
            <a:avLst/>
          </a:prstGeom>
          <a:noFill/>
          <a:ln w="12700">
            <a:solidFill>
              <a:srgbClr val="44608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233008" y="4709160"/>
            <a:ext cx="25678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AFC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233008" y="5093208"/>
            <a:ext cx="2567864" cy="0"/>
          </a:xfrm>
          <a:prstGeom prst="line">
            <a:avLst/>
          </a:prstGeom>
          <a:noFill/>
          <a:ln w="12700">
            <a:solidFill>
              <a:srgbClr val="44608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075191" y="4709160"/>
            <a:ext cx="25678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AFC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#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9075191" y="5093208"/>
            <a:ext cx="2567864" cy="0"/>
          </a:xfrm>
          <a:prstGeom prst="line">
            <a:avLst/>
          </a:prstGeom>
          <a:noFill/>
          <a:ln w="12700">
            <a:solidFill>
              <a:srgbClr val="44608A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4864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AFC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 TO CHINA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7071055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FC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Sentence Rhythm and Intonation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46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AREAS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2296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3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Sentence Rhythm and Intonation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502920" cy="502920"/>
          </a:xfrm>
          <a:prstGeom prst="ellipse">
            <a:avLst/>
          </a:prstGeom>
          <a:solidFill>
            <a:srgbClr val="1F8A5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2011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325880" y="1920240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3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Stress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325880" y="2350008"/>
            <a:ext cx="9875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A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Identifying which syllable in a multi-syllable word carries the primary accent.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3218688"/>
            <a:ext cx="11091672" cy="0"/>
          </a:xfrm>
          <a:prstGeom prst="line">
            <a:avLst/>
          </a:prstGeom>
          <a:noFill/>
          <a:ln w="12700">
            <a:solidFill>
              <a:srgbClr val="DFE7E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3429000"/>
            <a:ext cx="502920" cy="502920"/>
          </a:xfrm>
          <a:prstGeom prst="ellipse">
            <a:avLst/>
          </a:prstGeom>
          <a:solidFill>
            <a:srgbClr val="1E4E8C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48640" y="3429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1325880" y="3337560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3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Sentence Stress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1325880" y="3767328"/>
            <a:ext cx="9875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A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Emphasizing content words while shrinking function words for natural rhythm.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4636008"/>
            <a:ext cx="11091672" cy="0"/>
          </a:xfrm>
          <a:prstGeom prst="line">
            <a:avLst/>
          </a:prstGeom>
          <a:noFill/>
          <a:ln w="12700">
            <a:solidFill>
              <a:srgbClr val="DFE7E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4846320"/>
            <a:ext cx="502920" cy="502920"/>
          </a:xfrm>
          <a:prstGeom prst="ellipse">
            <a:avLst/>
          </a:prstGeom>
          <a:solidFill>
            <a:srgbClr val="F2A73B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48640" y="4846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1325880" y="4754880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3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Linking Sounds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1325880" y="5184648"/>
            <a:ext cx="9875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A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Smoothly connecting words (e.g., "an apple" becomes anapple).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4A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 TO CHINA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7071055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Sentence Rhythm and Intonation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46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 &amp; PRACTICE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2296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3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Sentence Rhythm and Intonation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18608" cy="4343400"/>
          </a:xfrm>
          <a:prstGeom prst="roundRect">
            <a:avLst>
              <a:gd name="adj" fmla="val 2526"/>
            </a:avLst>
          </a:prstGeom>
          <a:solidFill>
            <a:srgbClr val="F5FAF8"/>
          </a:solidFill>
          <a:ln w="12700">
            <a:solidFill>
              <a:srgbClr val="DFE7E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892808"/>
            <a:ext cx="4769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46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SUGGESTED FLOW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28600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6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0:00–0:05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2057400" y="2286000"/>
            <a:ext cx="348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Warm-Up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2057400" y="2560320"/>
            <a:ext cx="34898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A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Greet the student, review last session's homework.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303580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6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0:05–0:10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2057400" y="3035808"/>
            <a:ext cx="348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Introduce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2057400" y="3310128"/>
            <a:ext cx="34898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A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 today's focus with clear examples.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3785616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6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0:10–0:20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2057400" y="3785616"/>
            <a:ext cx="348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 Practice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2057400" y="4059936"/>
            <a:ext cx="34898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A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together — repetition, sentences, role-play.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822960" y="4535424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6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0:20–0:27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2057400" y="4535424"/>
            <a:ext cx="348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Practice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2057400" y="4809744"/>
            <a:ext cx="34898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A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the focus in open conversation.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822960" y="528523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6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0:27–0:30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2057400" y="5285232"/>
            <a:ext cx="348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Wrap-Up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2057400" y="5559552"/>
            <a:ext cx="34898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A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Recap, assign homework, say goodbye.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324448" y="1691640"/>
            <a:ext cx="5318608" cy="4343400"/>
          </a:xfrm>
          <a:prstGeom prst="roundRect">
            <a:avLst>
              <a:gd name="adj" fmla="val 2526"/>
            </a:avLst>
          </a:prstGeom>
          <a:solidFill>
            <a:srgbClr val="FFFFFF"/>
          </a:solidFill>
          <a:ln w="15875">
            <a:solidFill>
              <a:srgbClr val="DFE7E4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598768" y="1892808"/>
            <a:ext cx="4769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E4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SPACE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6598768" y="2221992"/>
            <a:ext cx="47699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4A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3–4 example sentences or questions to practice this focus area with your student.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6598768" y="2926080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4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964528" y="3127248"/>
            <a:ext cx="4404208" cy="0"/>
          </a:xfrm>
          <a:prstGeom prst="line">
            <a:avLst/>
          </a:prstGeom>
          <a:noFill/>
          <a:ln w="12700">
            <a:solidFill>
              <a:srgbClr val="C7D3D0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598768" y="3675888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4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964528" y="3877056"/>
            <a:ext cx="4404208" cy="0"/>
          </a:xfrm>
          <a:prstGeom prst="line">
            <a:avLst/>
          </a:prstGeom>
          <a:noFill/>
          <a:ln w="12700">
            <a:solidFill>
              <a:srgbClr val="C7D3D0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598768" y="4425696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4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964528" y="4626864"/>
            <a:ext cx="4404208" cy="0"/>
          </a:xfrm>
          <a:prstGeom prst="line">
            <a:avLst/>
          </a:prstGeom>
          <a:noFill/>
          <a:ln w="12700">
            <a:solidFill>
              <a:srgbClr val="C7D3D0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598768" y="5175504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4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964528" y="5376672"/>
            <a:ext cx="4404208" cy="0"/>
          </a:xfrm>
          <a:prstGeom prst="line">
            <a:avLst/>
          </a:prstGeom>
          <a:noFill/>
          <a:ln w="12700">
            <a:solidFill>
              <a:srgbClr val="C7D3D0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54864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4A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 TO CHINA</a:t>
            </a:r>
            <a:endParaRPr lang="en-US" sz="900" dirty="0"/>
          </a:p>
        </p:txBody>
      </p:sp>
      <p:sp>
        <p:nvSpPr>
          <p:cNvPr id="33" name="Text 31"/>
          <p:cNvSpPr txBox="1"/>
          <p:nvPr/>
        </p:nvSpPr>
        <p:spPr>
          <a:xfrm>
            <a:off x="7071055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Sentence Rhythm and Intonation</a:t>
            </a:r>
            <a:endParaRPr lang="en-US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5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46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WRAP-UP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2296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3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Sentence Rhythm and Intonation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18608" cy="301752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32436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920240"/>
            <a:ext cx="365760" cy="365760"/>
          </a:xfrm>
          <a:prstGeom prst="ellipse">
            <a:avLst/>
          </a:prstGeom>
          <a:solidFill>
            <a:srgbClr val="1F8A5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19202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325880" y="1920240"/>
            <a:ext cx="4312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Vocabulary &amp; Phrases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514600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6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170432" y="2715768"/>
            <a:ext cx="4404208" cy="0"/>
          </a:xfrm>
          <a:prstGeom prst="line">
            <a:avLst/>
          </a:prstGeom>
          <a:noFill/>
          <a:ln w="12700">
            <a:solidFill>
              <a:srgbClr val="C7D3D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22960" y="3044952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6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1170432" y="3246120"/>
            <a:ext cx="4404208" cy="0"/>
          </a:xfrm>
          <a:prstGeom prst="line">
            <a:avLst/>
          </a:prstGeom>
          <a:noFill/>
          <a:ln w="12700">
            <a:solidFill>
              <a:srgbClr val="C7D3D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22960" y="3575304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6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170432" y="3776472"/>
            <a:ext cx="4404208" cy="0"/>
          </a:xfrm>
          <a:prstGeom prst="line">
            <a:avLst/>
          </a:prstGeom>
          <a:noFill/>
          <a:ln w="12700">
            <a:solidFill>
              <a:srgbClr val="C7D3D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22960" y="4105656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6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170432" y="4306824"/>
            <a:ext cx="4404208" cy="0"/>
          </a:xfrm>
          <a:prstGeom prst="line">
            <a:avLst/>
          </a:prstGeom>
          <a:noFill/>
          <a:ln w="12700">
            <a:solidFill>
              <a:srgbClr val="C7D3D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324448" y="1691640"/>
            <a:ext cx="5318608" cy="301752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32436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598768" y="1920240"/>
            <a:ext cx="365760" cy="365760"/>
          </a:xfrm>
          <a:prstGeom prst="ellipse">
            <a:avLst/>
          </a:prstGeom>
          <a:solidFill>
            <a:srgbClr val="1E4E8C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598768" y="19202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7101688" y="1920240"/>
            <a:ext cx="4312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Homework &amp; Session Notes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598768" y="2514600"/>
            <a:ext cx="4769968" cy="0"/>
          </a:xfrm>
          <a:prstGeom prst="line">
            <a:avLst/>
          </a:prstGeom>
          <a:noFill/>
          <a:ln w="12700">
            <a:solidFill>
              <a:srgbClr val="C7D3D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598768" y="3044952"/>
            <a:ext cx="4769968" cy="0"/>
          </a:xfrm>
          <a:prstGeom prst="line">
            <a:avLst/>
          </a:prstGeom>
          <a:noFill/>
          <a:ln w="12700">
            <a:solidFill>
              <a:srgbClr val="C7D3D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598768" y="3575304"/>
            <a:ext cx="4769968" cy="0"/>
          </a:xfrm>
          <a:prstGeom prst="line">
            <a:avLst/>
          </a:prstGeom>
          <a:noFill/>
          <a:ln w="12700">
            <a:solidFill>
              <a:srgbClr val="C7D3D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598768" y="4105656"/>
            <a:ext cx="4769968" cy="0"/>
          </a:xfrm>
          <a:prstGeom prst="line">
            <a:avLst/>
          </a:prstGeom>
          <a:noFill/>
          <a:ln w="12700">
            <a:solidFill>
              <a:srgbClr val="C7D3D0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48640" y="507492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4A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 work today! Log this session's hours on your dashboard once it's complete.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54864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4A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 TO CHINA</a:t>
            </a:r>
            <a:endParaRPr lang="en-US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7071055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Sentence Rhythm and Intonation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133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99855" y="-1463040"/>
            <a:ext cx="4754880" cy="4754880"/>
          </a:xfrm>
          <a:prstGeom prst="ellipse">
            <a:avLst/>
          </a:prstGeom>
          <a:solidFill>
            <a:srgbClr val="17436F"/>
          </a:solidFill>
          <a:ln/>
        </p:spPr>
      </p:sp>
      <p:sp>
        <p:nvSpPr>
          <p:cNvPr id="3" name="Shape 1"/>
          <p:cNvSpPr/>
          <p:nvPr/>
        </p:nvSpPr>
        <p:spPr>
          <a:xfrm>
            <a:off x="10180015" y="4480560"/>
            <a:ext cx="2926080" cy="2926080"/>
          </a:xfrm>
          <a:prstGeom prst="ellipse">
            <a:avLst/>
          </a:prstGeom>
          <a:solidFill>
            <a:srgbClr val="1B4E80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10515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7FD9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7 · SKILL-BASED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463040"/>
            <a:ext cx="9601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Conversational Expansion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8803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7E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Level: Intermediate-Low   ·   Duration: 30 minutes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3703320"/>
            <a:ext cx="457200" cy="457200"/>
          </a:xfrm>
          <a:prstGeom prst="ellipse">
            <a:avLst/>
          </a:prstGeom>
          <a:solidFill>
            <a:srgbClr val="1F8A5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3703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188720" y="3703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7D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 in the fields below before your session begins.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4709160"/>
            <a:ext cx="25678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AFC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VOLUNTEER NAME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48640" y="5093208"/>
            <a:ext cx="2567864" cy="0"/>
          </a:xfrm>
          <a:prstGeom prst="line">
            <a:avLst/>
          </a:prstGeom>
          <a:noFill/>
          <a:ln w="12700">
            <a:solidFill>
              <a:srgbClr val="44608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390824" y="4709160"/>
            <a:ext cx="25678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AFC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NAME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390824" y="5093208"/>
            <a:ext cx="2567864" cy="0"/>
          </a:xfrm>
          <a:prstGeom prst="line">
            <a:avLst/>
          </a:prstGeom>
          <a:noFill/>
          <a:ln w="12700">
            <a:solidFill>
              <a:srgbClr val="44608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233008" y="4709160"/>
            <a:ext cx="25678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AFC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233008" y="5093208"/>
            <a:ext cx="2567864" cy="0"/>
          </a:xfrm>
          <a:prstGeom prst="line">
            <a:avLst/>
          </a:prstGeom>
          <a:noFill/>
          <a:ln w="12700">
            <a:solidFill>
              <a:srgbClr val="44608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075191" y="4709160"/>
            <a:ext cx="25678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AFC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#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9075191" y="5093208"/>
            <a:ext cx="2567864" cy="0"/>
          </a:xfrm>
          <a:prstGeom prst="line">
            <a:avLst/>
          </a:prstGeom>
          <a:noFill/>
          <a:ln w="12700">
            <a:solidFill>
              <a:srgbClr val="44608A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4864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AFC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 TO CHINA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7071055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FC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Conversational Expansion</a:t>
            </a:r>
            <a:endParaRPr lang="en-US" sz="9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46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AREAS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2296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3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Conversational Expansion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502920" cy="502920"/>
          </a:xfrm>
          <a:prstGeom prst="ellipse">
            <a:avLst/>
          </a:prstGeom>
          <a:solidFill>
            <a:srgbClr val="1F8A5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2011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325880" y="1920240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3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Idiomatic Fillers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325880" y="2350008"/>
            <a:ext cx="9875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A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conversational anchors like well, actually, and you know to buy time to think.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3218688"/>
            <a:ext cx="11091672" cy="0"/>
          </a:xfrm>
          <a:prstGeom prst="line">
            <a:avLst/>
          </a:prstGeom>
          <a:noFill/>
          <a:ln w="12700">
            <a:solidFill>
              <a:srgbClr val="DFE7E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3429000"/>
            <a:ext cx="502920" cy="502920"/>
          </a:xfrm>
          <a:prstGeom prst="ellipse">
            <a:avLst/>
          </a:prstGeom>
          <a:solidFill>
            <a:srgbClr val="1E4E8C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48640" y="3429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1325880" y="3337560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3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Follow-up Questions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1325880" y="3767328"/>
            <a:ext cx="9875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A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Keeping a conversation flowing by asking open-ended questions.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4636008"/>
            <a:ext cx="11091672" cy="0"/>
          </a:xfrm>
          <a:prstGeom prst="line">
            <a:avLst/>
          </a:prstGeom>
          <a:noFill/>
          <a:ln w="12700">
            <a:solidFill>
              <a:srgbClr val="DFE7E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4846320"/>
            <a:ext cx="502920" cy="502920"/>
          </a:xfrm>
          <a:prstGeom prst="ellipse">
            <a:avLst/>
          </a:prstGeom>
          <a:solidFill>
            <a:srgbClr val="F2A73B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48640" y="4846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1325880" y="4754880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3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Expressing Opinions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1325880" y="5184648"/>
            <a:ext cx="9875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A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soft openers like I think..., In my opinion..., or I feel like....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4A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 TO CHINA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7071055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Conversational Expansion</a:t>
            </a:r>
            <a:endParaRPr lang="en-US" sz="9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46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 &amp; PRACTICE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2296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3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Conversational Expansion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18608" cy="4343400"/>
          </a:xfrm>
          <a:prstGeom prst="roundRect">
            <a:avLst>
              <a:gd name="adj" fmla="val 2526"/>
            </a:avLst>
          </a:prstGeom>
          <a:solidFill>
            <a:srgbClr val="F5FAF8"/>
          </a:solidFill>
          <a:ln w="12700">
            <a:solidFill>
              <a:srgbClr val="DFE7E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892808"/>
            <a:ext cx="4769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46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SUGGESTED FLOW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28600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6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0:00–0:05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2057400" y="2286000"/>
            <a:ext cx="348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Warm-Up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2057400" y="2560320"/>
            <a:ext cx="34898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A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Greet the student, review last session's homework.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303580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6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0:05–0:10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2057400" y="3035808"/>
            <a:ext cx="348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Introduce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2057400" y="3310128"/>
            <a:ext cx="34898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A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 today's focus with clear examples.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3785616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6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0:10–0:20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2057400" y="3785616"/>
            <a:ext cx="348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 Practice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2057400" y="4059936"/>
            <a:ext cx="34898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A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together — repetition, sentences, role-play.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822960" y="4535424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6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0:20–0:27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2057400" y="4535424"/>
            <a:ext cx="348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Practice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2057400" y="4809744"/>
            <a:ext cx="34898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A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the focus in open conversation.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822960" y="528523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6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0:27–0:30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2057400" y="5285232"/>
            <a:ext cx="348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Wrap-Up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2057400" y="5559552"/>
            <a:ext cx="34898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A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Recap, assign homework, say goodbye.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324448" y="1691640"/>
            <a:ext cx="5318608" cy="4343400"/>
          </a:xfrm>
          <a:prstGeom prst="roundRect">
            <a:avLst>
              <a:gd name="adj" fmla="val 2526"/>
            </a:avLst>
          </a:prstGeom>
          <a:solidFill>
            <a:srgbClr val="FFFFFF"/>
          </a:solidFill>
          <a:ln w="15875">
            <a:solidFill>
              <a:srgbClr val="DFE7E4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598768" y="1892808"/>
            <a:ext cx="4769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E4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SPACE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6598768" y="2221992"/>
            <a:ext cx="47699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4A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3–4 example sentences or questions to practice this focus area with your student.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6598768" y="2926080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4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964528" y="3127248"/>
            <a:ext cx="4404208" cy="0"/>
          </a:xfrm>
          <a:prstGeom prst="line">
            <a:avLst/>
          </a:prstGeom>
          <a:noFill/>
          <a:ln w="12700">
            <a:solidFill>
              <a:srgbClr val="C7D3D0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598768" y="3675888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4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964528" y="3877056"/>
            <a:ext cx="4404208" cy="0"/>
          </a:xfrm>
          <a:prstGeom prst="line">
            <a:avLst/>
          </a:prstGeom>
          <a:noFill/>
          <a:ln w="12700">
            <a:solidFill>
              <a:srgbClr val="C7D3D0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598768" y="4425696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4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964528" y="4626864"/>
            <a:ext cx="4404208" cy="0"/>
          </a:xfrm>
          <a:prstGeom prst="line">
            <a:avLst/>
          </a:prstGeom>
          <a:noFill/>
          <a:ln w="12700">
            <a:solidFill>
              <a:srgbClr val="C7D3D0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598768" y="5175504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4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964528" y="5376672"/>
            <a:ext cx="4404208" cy="0"/>
          </a:xfrm>
          <a:prstGeom prst="line">
            <a:avLst/>
          </a:prstGeom>
          <a:noFill/>
          <a:ln w="12700">
            <a:solidFill>
              <a:srgbClr val="C7D3D0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54864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4A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 TO CHINA</a:t>
            </a:r>
            <a:endParaRPr lang="en-US" sz="900" dirty="0"/>
          </a:p>
        </p:txBody>
      </p:sp>
      <p:sp>
        <p:nvSpPr>
          <p:cNvPr id="33" name="Text 31"/>
          <p:cNvSpPr txBox="1"/>
          <p:nvPr/>
        </p:nvSpPr>
        <p:spPr>
          <a:xfrm>
            <a:off x="7071055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Conversational Expansion</a:t>
            </a:r>
            <a:endParaRPr lang="en-US" sz="9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5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46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WRAP-UP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2296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3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Conversational Expansion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18608" cy="301752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32436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920240"/>
            <a:ext cx="365760" cy="365760"/>
          </a:xfrm>
          <a:prstGeom prst="ellipse">
            <a:avLst/>
          </a:prstGeom>
          <a:solidFill>
            <a:srgbClr val="1F8A5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19202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325880" y="1920240"/>
            <a:ext cx="4312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Vocabulary &amp; Phrases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514600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6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170432" y="2715768"/>
            <a:ext cx="4404208" cy="0"/>
          </a:xfrm>
          <a:prstGeom prst="line">
            <a:avLst/>
          </a:prstGeom>
          <a:noFill/>
          <a:ln w="12700">
            <a:solidFill>
              <a:srgbClr val="C7D3D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22960" y="3044952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6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1170432" y="3246120"/>
            <a:ext cx="4404208" cy="0"/>
          </a:xfrm>
          <a:prstGeom prst="line">
            <a:avLst/>
          </a:prstGeom>
          <a:noFill/>
          <a:ln w="12700">
            <a:solidFill>
              <a:srgbClr val="C7D3D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22960" y="3575304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6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170432" y="3776472"/>
            <a:ext cx="4404208" cy="0"/>
          </a:xfrm>
          <a:prstGeom prst="line">
            <a:avLst/>
          </a:prstGeom>
          <a:noFill/>
          <a:ln w="12700">
            <a:solidFill>
              <a:srgbClr val="C7D3D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22960" y="4105656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6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170432" y="4306824"/>
            <a:ext cx="4404208" cy="0"/>
          </a:xfrm>
          <a:prstGeom prst="line">
            <a:avLst/>
          </a:prstGeom>
          <a:noFill/>
          <a:ln w="12700">
            <a:solidFill>
              <a:srgbClr val="C7D3D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324448" y="1691640"/>
            <a:ext cx="5318608" cy="301752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32436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598768" y="1920240"/>
            <a:ext cx="365760" cy="365760"/>
          </a:xfrm>
          <a:prstGeom prst="ellipse">
            <a:avLst/>
          </a:prstGeom>
          <a:solidFill>
            <a:srgbClr val="1E4E8C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598768" y="19202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7101688" y="1920240"/>
            <a:ext cx="4312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Homework &amp; Session Notes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598768" y="2514600"/>
            <a:ext cx="4769968" cy="0"/>
          </a:xfrm>
          <a:prstGeom prst="line">
            <a:avLst/>
          </a:prstGeom>
          <a:noFill/>
          <a:ln w="12700">
            <a:solidFill>
              <a:srgbClr val="C7D3D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598768" y="3044952"/>
            <a:ext cx="4769968" cy="0"/>
          </a:xfrm>
          <a:prstGeom prst="line">
            <a:avLst/>
          </a:prstGeom>
          <a:noFill/>
          <a:ln w="12700">
            <a:solidFill>
              <a:srgbClr val="C7D3D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598768" y="3575304"/>
            <a:ext cx="4769968" cy="0"/>
          </a:xfrm>
          <a:prstGeom prst="line">
            <a:avLst/>
          </a:prstGeom>
          <a:noFill/>
          <a:ln w="12700">
            <a:solidFill>
              <a:srgbClr val="C7D3D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598768" y="4105656"/>
            <a:ext cx="4769968" cy="0"/>
          </a:xfrm>
          <a:prstGeom prst="line">
            <a:avLst/>
          </a:prstGeom>
          <a:noFill/>
          <a:ln w="12700">
            <a:solidFill>
              <a:srgbClr val="C7D3D0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48640" y="507492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4A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 work today! Log this session's hours on your dashboard once it's complete.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54864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4A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 TO CHINA</a:t>
            </a:r>
            <a:endParaRPr lang="en-US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7071055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Conversational Expansion</a:t>
            </a:r>
            <a:endParaRPr lang="en-US" sz="9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133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99855" y="-1463040"/>
            <a:ext cx="4754880" cy="4754880"/>
          </a:xfrm>
          <a:prstGeom prst="ellipse">
            <a:avLst/>
          </a:prstGeom>
          <a:solidFill>
            <a:srgbClr val="17436F"/>
          </a:solidFill>
          <a:ln/>
        </p:spPr>
      </p:sp>
      <p:sp>
        <p:nvSpPr>
          <p:cNvPr id="3" name="Shape 1"/>
          <p:cNvSpPr/>
          <p:nvPr/>
        </p:nvSpPr>
        <p:spPr>
          <a:xfrm>
            <a:off x="10180015" y="4480560"/>
            <a:ext cx="2926080" cy="2926080"/>
          </a:xfrm>
          <a:prstGeom prst="ellipse">
            <a:avLst/>
          </a:prstGeom>
          <a:solidFill>
            <a:srgbClr val="1B4E80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10515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7FD9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8 · SKILL-BASED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463040"/>
            <a:ext cx="9601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Compound Grammar &amp; Conditions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8803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7E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Level: Intermediate   ·   Duration: 30 minutes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3703320"/>
            <a:ext cx="457200" cy="457200"/>
          </a:xfrm>
          <a:prstGeom prst="ellipse">
            <a:avLst/>
          </a:prstGeom>
          <a:solidFill>
            <a:srgbClr val="1F8A5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3703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188720" y="3703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7D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 in the fields below before your session begins.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4709160"/>
            <a:ext cx="25678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AFC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VOLUNTEER NAME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48640" y="5093208"/>
            <a:ext cx="2567864" cy="0"/>
          </a:xfrm>
          <a:prstGeom prst="line">
            <a:avLst/>
          </a:prstGeom>
          <a:noFill/>
          <a:ln w="12700">
            <a:solidFill>
              <a:srgbClr val="44608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390824" y="4709160"/>
            <a:ext cx="25678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AFC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NAME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390824" y="5093208"/>
            <a:ext cx="2567864" cy="0"/>
          </a:xfrm>
          <a:prstGeom prst="line">
            <a:avLst/>
          </a:prstGeom>
          <a:noFill/>
          <a:ln w="12700">
            <a:solidFill>
              <a:srgbClr val="44608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233008" y="4709160"/>
            <a:ext cx="25678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AFC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233008" y="5093208"/>
            <a:ext cx="2567864" cy="0"/>
          </a:xfrm>
          <a:prstGeom prst="line">
            <a:avLst/>
          </a:prstGeom>
          <a:noFill/>
          <a:ln w="12700">
            <a:solidFill>
              <a:srgbClr val="44608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075191" y="4709160"/>
            <a:ext cx="25678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AFC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#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9075191" y="5093208"/>
            <a:ext cx="2567864" cy="0"/>
          </a:xfrm>
          <a:prstGeom prst="line">
            <a:avLst/>
          </a:prstGeom>
          <a:noFill/>
          <a:ln w="12700">
            <a:solidFill>
              <a:srgbClr val="44608A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4864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AFC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 TO CHINA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7071055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FC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Compound Grammar &amp; Conditions</a:t>
            </a:r>
            <a:endParaRPr lang="en-US" sz="9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46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AREAS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2296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3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Compound Grammar &amp; Conditions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502920" cy="502920"/>
          </a:xfrm>
          <a:prstGeom prst="ellipse">
            <a:avLst/>
          </a:prstGeom>
          <a:solidFill>
            <a:srgbClr val="1F8A5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2011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325880" y="1920240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3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Perfect Tenses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325880" y="2350008"/>
            <a:ext cx="9875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A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Mastering the Present Perfect (I have done) for life experiences or ongoing situations.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3218688"/>
            <a:ext cx="11091672" cy="0"/>
          </a:xfrm>
          <a:prstGeom prst="line">
            <a:avLst/>
          </a:prstGeom>
          <a:noFill/>
          <a:ln w="12700">
            <a:solidFill>
              <a:srgbClr val="DFE7E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3429000"/>
            <a:ext cx="502920" cy="502920"/>
          </a:xfrm>
          <a:prstGeom prst="ellipse">
            <a:avLst/>
          </a:prstGeom>
          <a:solidFill>
            <a:srgbClr val="1E4E8C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48640" y="3429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1325880" y="3337560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3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Relative Clauses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1325880" y="3767328"/>
            <a:ext cx="9875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A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who, which, and that to combine two sentences into one.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4636008"/>
            <a:ext cx="11091672" cy="0"/>
          </a:xfrm>
          <a:prstGeom prst="line">
            <a:avLst/>
          </a:prstGeom>
          <a:noFill/>
          <a:ln w="12700">
            <a:solidFill>
              <a:srgbClr val="DFE7E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4846320"/>
            <a:ext cx="502920" cy="502920"/>
          </a:xfrm>
          <a:prstGeom prst="ellipse">
            <a:avLst/>
          </a:prstGeom>
          <a:solidFill>
            <a:srgbClr val="F2A73B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48640" y="4846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1325880" y="4754880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3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Conditionals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1325880" y="5184648"/>
            <a:ext cx="9875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A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Expressing hypothetical situations using If... I would... structures.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4A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 TO CHINA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7071055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Compound Grammar &amp; Conditions</a:t>
            </a:r>
            <a:endParaRPr lang="en-US" sz="9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46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 &amp; PRACTICE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2296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3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Compound Grammar &amp; Conditions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18608" cy="4343400"/>
          </a:xfrm>
          <a:prstGeom prst="roundRect">
            <a:avLst>
              <a:gd name="adj" fmla="val 2526"/>
            </a:avLst>
          </a:prstGeom>
          <a:solidFill>
            <a:srgbClr val="F5FAF8"/>
          </a:solidFill>
          <a:ln w="12700">
            <a:solidFill>
              <a:srgbClr val="DFE7E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892808"/>
            <a:ext cx="4769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46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SUGGESTED FLOW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28600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6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0:00–0:05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2057400" y="2286000"/>
            <a:ext cx="348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Warm-Up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2057400" y="2560320"/>
            <a:ext cx="34898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A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Greet the student, review last session's homework.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303580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6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0:05–0:10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2057400" y="3035808"/>
            <a:ext cx="348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Introduce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2057400" y="3310128"/>
            <a:ext cx="34898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A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 today's focus with clear examples.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3785616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6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0:10–0:20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2057400" y="3785616"/>
            <a:ext cx="348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 Practice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2057400" y="4059936"/>
            <a:ext cx="34898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A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together — repetition, sentences, role-play.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822960" y="4535424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6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0:20–0:27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2057400" y="4535424"/>
            <a:ext cx="348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Practice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2057400" y="4809744"/>
            <a:ext cx="34898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A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the focus in open conversation.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822960" y="528523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6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0:27–0:30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2057400" y="5285232"/>
            <a:ext cx="348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Wrap-Up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2057400" y="5559552"/>
            <a:ext cx="34898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A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Recap, assign homework, say goodbye.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324448" y="1691640"/>
            <a:ext cx="5318608" cy="4343400"/>
          </a:xfrm>
          <a:prstGeom prst="roundRect">
            <a:avLst>
              <a:gd name="adj" fmla="val 2526"/>
            </a:avLst>
          </a:prstGeom>
          <a:solidFill>
            <a:srgbClr val="FFFFFF"/>
          </a:solidFill>
          <a:ln w="15875">
            <a:solidFill>
              <a:srgbClr val="DFE7E4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598768" y="1892808"/>
            <a:ext cx="4769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E4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SPACE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6598768" y="2221992"/>
            <a:ext cx="47699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4A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3–4 example sentences or questions to practice this focus area with your student.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6598768" y="2926080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4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964528" y="3127248"/>
            <a:ext cx="4404208" cy="0"/>
          </a:xfrm>
          <a:prstGeom prst="line">
            <a:avLst/>
          </a:prstGeom>
          <a:noFill/>
          <a:ln w="12700">
            <a:solidFill>
              <a:srgbClr val="C7D3D0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598768" y="3675888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4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964528" y="3877056"/>
            <a:ext cx="4404208" cy="0"/>
          </a:xfrm>
          <a:prstGeom prst="line">
            <a:avLst/>
          </a:prstGeom>
          <a:noFill/>
          <a:ln w="12700">
            <a:solidFill>
              <a:srgbClr val="C7D3D0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598768" y="4425696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4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964528" y="4626864"/>
            <a:ext cx="4404208" cy="0"/>
          </a:xfrm>
          <a:prstGeom prst="line">
            <a:avLst/>
          </a:prstGeom>
          <a:noFill/>
          <a:ln w="12700">
            <a:solidFill>
              <a:srgbClr val="C7D3D0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598768" y="5175504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4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964528" y="5376672"/>
            <a:ext cx="4404208" cy="0"/>
          </a:xfrm>
          <a:prstGeom prst="line">
            <a:avLst/>
          </a:prstGeom>
          <a:noFill/>
          <a:ln w="12700">
            <a:solidFill>
              <a:srgbClr val="C7D3D0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54864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4A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 TO CHINA</a:t>
            </a:r>
            <a:endParaRPr lang="en-US" sz="900" dirty="0"/>
          </a:p>
        </p:txBody>
      </p:sp>
      <p:sp>
        <p:nvSpPr>
          <p:cNvPr id="33" name="Text 31"/>
          <p:cNvSpPr txBox="1"/>
          <p:nvPr/>
        </p:nvSpPr>
        <p:spPr>
          <a:xfrm>
            <a:off x="7071055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Compound Grammar &amp; Conditions</a:t>
            </a:r>
            <a:endParaRPr lang="en-US" sz="9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5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46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WRAP-UP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2296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3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Compound Grammar &amp; Conditions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18608" cy="301752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32436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920240"/>
            <a:ext cx="365760" cy="365760"/>
          </a:xfrm>
          <a:prstGeom prst="ellipse">
            <a:avLst/>
          </a:prstGeom>
          <a:solidFill>
            <a:srgbClr val="1F8A5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19202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325880" y="1920240"/>
            <a:ext cx="4312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Vocabulary &amp; Phrases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514600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6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170432" y="2715768"/>
            <a:ext cx="4404208" cy="0"/>
          </a:xfrm>
          <a:prstGeom prst="line">
            <a:avLst/>
          </a:prstGeom>
          <a:noFill/>
          <a:ln w="12700">
            <a:solidFill>
              <a:srgbClr val="C7D3D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22960" y="3044952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6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1170432" y="3246120"/>
            <a:ext cx="4404208" cy="0"/>
          </a:xfrm>
          <a:prstGeom prst="line">
            <a:avLst/>
          </a:prstGeom>
          <a:noFill/>
          <a:ln w="12700">
            <a:solidFill>
              <a:srgbClr val="C7D3D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22960" y="3575304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6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170432" y="3776472"/>
            <a:ext cx="4404208" cy="0"/>
          </a:xfrm>
          <a:prstGeom prst="line">
            <a:avLst/>
          </a:prstGeom>
          <a:noFill/>
          <a:ln w="12700">
            <a:solidFill>
              <a:srgbClr val="C7D3D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22960" y="4105656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6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170432" y="4306824"/>
            <a:ext cx="4404208" cy="0"/>
          </a:xfrm>
          <a:prstGeom prst="line">
            <a:avLst/>
          </a:prstGeom>
          <a:noFill/>
          <a:ln w="12700">
            <a:solidFill>
              <a:srgbClr val="C7D3D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324448" y="1691640"/>
            <a:ext cx="5318608" cy="301752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32436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598768" y="1920240"/>
            <a:ext cx="365760" cy="365760"/>
          </a:xfrm>
          <a:prstGeom prst="ellipse">
            <a:avLst/>
          </a:prstGeom>
          <a:solidFill>
            <a:srgbClr val="1E4E8C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598768" y="19202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7101688" y="1920240"/>
            <a:ext cx="4312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Homework &amp; Session Notes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598768" y="2514600"/>
            <a:ext cx="4769968" cy="0"/>
          </a:xfrm>
          <a:prstGeom prst="line">
            <a:avLst/>
          </a:prstGeom>
          <a:noFill/>
          <a:ln w="12700">
            <a:solidFill>
              <a:srgbClr val="C7D3D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598768" y="3044952"/>
            <a:ext cx="4769968" cy="0"/>
          </a:xfrm>
          <a:prstGeom prst="line">
            <a:avLst/>
          </a:prstGeom>
          <a:noFill/>
          <a:ln w="12700">
            <a:solidFill>
              <a:srgbClr val="C7D3D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598768" y="3575304"/>
            <a:ext cx="4769968" cy="0"/>
          </a:xfrm>
          <a:prstGeom prst="line">
            <a:avLst/>
          </a:prstGeom>
          <a:noFill/>
          <a:ln w="12700">
            <a:solidFill>
              <a:srgbClr val="C7D3D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598768" y="4105656"/>
            <a:ext cx="4769968" cy="0"/>
          </a:xfrm>
          <a:prstGeom prst="line">
            <a:avLst/>
          </a:prstGeom>
          <a:noFill/>
          <a:ln w="12700">
            <a:solidFill>
              <a:srgbClr val="C7D3D0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48640" y="507492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4A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 work today! Log this session's hours on your dashboard once it's complete.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54864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4A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 TO CHINA</a:t>
            </a:r>
            <a:endParaRPr lang="en-US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7071055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Compound Grammar &amp; Conditions</a:t>
            </a:r>
            <a:endParaRPr lang="en-US" sz="9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133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99855" y="-1463040"/>
            <a:ext cx="4754880" cy="4754880"/>
          </a:xfrm>
          <a:prstGeom prst="ellipse">
            <a:avLst/>
          </a:prstGeom>
          <a:solidFill>
            <a:srgbClr val="17436F"/>
          </a:solidFill>
          <a:ln/>
        </p:spPr>
      </p:sp>
      <p:sp>
        <p:nvSpPr>
          <p:cNvPr id="3" name="Shape 1"/>
          <p:cNvSpPr/>
          <p:nvPr/>
        </p:nvSpPr>
        <p:spPr>
          <a:xfrm>
            <a:off x="10180015" y="4480560"/>
            <a:ext cx="2926080" cy="2926080"/>
          </a:xfrm>
          <a:prstGeom prst="ellipse">
            <a:avLst/>
          </a:prstGeom>
          <a:solidFill>
            <a:srgbClr val="1B4E80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10515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7FD9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9 · SKILL-BASED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463040"/>
            <a:ext cx="9601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Contextual Vocabulary &amp; Phrasal Verbs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8803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7E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Level: Intermediate   ·   Duration: 30 minutes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3703320"/>
            <a:ext cx="457200" cy="457200"/>
          </a:xfrm>
          <a:prstGeom prst="ellipse">
            <a:avLst/>
          </a:prstGeom>
          <a:solidFill>
            <a:srgbClr val="1F8A5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3703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188720" y="3703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7D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 in the fields below before your session begins.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4709160"/>
            <a:ext cx="25678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AFC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VOLUNTEER NAME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48640" y="5093208"/>
            <a:ext cx="2567864" cy="0"/>
          </a:xfrm>
          <a:prstGeom prst="line">
            <a:avLst/>
          </a:prstGeom>
          <a:noFill/>
          <a:ln w="12700">
            <a:solidFill>
              <a:srgbClr val="44608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390824" y="4709160"/>
            <a:ext cx="25678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AFC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NAME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390824" y="5093208"/>
            <a:ext cx="2567864" cy="0"/>
          </a:xfrm>
          <a:prstGeom prst="line">
            <a:avLst/>
          </a:prstGeom>
          <a:noFill/>
          <a:ln w="12700">
            <a:solidFill>
              <a:srgbClr val="44608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233008" y="4709160"/>
            <a:ext cx="25678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AFC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233008" y="5093208"/>
            <a:ext cx="2567864" cy="0"/>
          </a:xfrm>
          <a:prstGeom prst="line">
            <a:avLst/>
          </a:prstGeom>
          <a:noFill/>
          <a:ln w="12700">
            <a:solidFill>
              <a:srgbClr val="44608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075191" y="4709160"/>
            <a:ext cx="25678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AFC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#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9075191" y="5093208"/>
            <a:ext cx="2567864" cy="0"/>
          </a:xfrm>
          <a:prstGeom prst="line">
            <a:avLst/>
          </a:prstGeom>
          <a:noFill/>
          <a:ln w="12700">
            <a:solidFill>
              <a:srgbClr val="44608A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4864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AFC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 TO CHINA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7071055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FC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Contextual Vocabulary &amp; Phrasal Verbs</a:t>
            </a:r>
            <a:endParaRPr lang="en-US" sz="9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46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AREAS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2296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3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Contextual Vocabulary &amp; Phrasal Verbs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502920" cy="502920"/>
          </a:xfrm>
          <a:prstGeom prst="ellipse">
            <a:avLst/>
          </a:prstGeom>
          <a:solidFill>
            <a:srgbClr val="1F8A5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2011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325880" y="1920240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3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Phrasal Verbs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325880" y="2350008"/>
            <a:ext cx="9875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A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Moving from formal verbs to common multi-word verbs (pick up instead of collect).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3218688"/>
            <a:ext cx="11091672" cy="0"/>
          </a:xfrm>
          <a:prstGeom prst="line">
            <a:avLst/>
          </a:prstGeom>
          <a:noFill/>
          <a:ln w="12700">
            <a:solidFill>
              <a:srgbClr val="DFE7E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3429000"/>
            <a:ext cx="502920" cy="502920"/>
          </a:xfrm>
          <a:prstGeom prst="ellipse">
            <a:avLst/>
          </a:prstGeom>
          <a:solidFill>
            <a:srgbClr val="1E4E8C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48640" y="3429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1325880" y="3337560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3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Collocations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1325880" y="3767328"/>
            <a:ext cx="9875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A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which words naturally pair together (make a mistake, not do a mistake).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4636008"/>
            <a:ext cx="11091672" cy="0"/>
          </a:xfrm>
          <a:prstGeom prst="line">
            <a:avLst/>
          </a:prstGeom>
          <a:noFill/>
          <a:ln w="12700">
            <a:solidFill>
              <a:srgbClr val="DFE7E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4846320"/>
            <a:ext cx="502920" cy="502920"/>
          </a:xfrm>
          <a:prstGeom prst="ellipse">
            <a:avLst/>
          </a:prstGeom>
          <a:solidFill>
            <a:srgbClr val="F2A73B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48640" y="4846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1325880" y="4754880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3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Synonym Variety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1325880" y="5184648"/>
            <a:ext cx="9875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A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Expanding past good, bad, happy to precise words like excellent, terrible, thrilled.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4A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 TO CHINA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7071055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Contextual Vocabulary &amp; Phrasal Verbs</a:t>
            </a:r>
            <a:endParaRPr lang="en-US" sz="9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46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 &amp; PRACTICE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2296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3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Contextual Vocabulary &amp; Phrasal Verbs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18608" cy="4343400"/>
          </a:xfrm>
          <a:prstGeom prst="roundRect">
            <a:avLst>
              <a:gd name="adj" fmla="val 2526"/>
            </a:avLst>
          </a:prstGeom>
          <a:solidFill>
            <a:srgbClr val="F5FAF8"/>
          </a:solidFill>
          <a:ln w="12700">
            <a:solidFill>
              <a:srgbClr val="DFE7E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892808"/>
            <a:ext cx="4769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46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SUGGESTED FLOW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28600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6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0:00–0:05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2057400" y="2286000"/>
            <a:ext cx="348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Warm-Up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2057400" y="2560320"/>
            <a:ext cx="34898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A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Greet the student, review last session's homework.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303580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6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0:05–0:10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2057400" y="3035808"/>
            <a:ext cx="348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Introduce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2057400" y="3310128"/>
            <a:ext cx="34898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A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 today's focus with clear examples.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3785616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6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0:10–0:20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2057400" y="3785616"/>
            <a:ext cx="348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 Practice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2057400" y="4059936"/>
            <a:ext cx="34898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A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together — repetition, sentences, role-play.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822960" y="4535424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6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0:20–0:27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2057400" y="4535424"/>
            <a:ext cx="348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Practice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2057400" y="4809744"/>
            <a:ext cx="34898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A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the focus in open conversation.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822960" y="528523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6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0:27–0:30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2057400" y="5285232"/>
            <a:ext cx="348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Wrap-Up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2057400" y="5559552"/>
            <a:ext cx="34898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A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Recap, assign homework, say goodbye.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324448" y="1691640"/>
            <a:ext cx="5318608" cy="4343400"/>
          </a:xfrm>
          <a:prstGeom prst="roundRect">
            <a:avLst>
              <a:gd name="adj" fmla="val 2526"/>
            </a:avLst>
          </a:prstGeom>
          <a:solidFill>
            <a:srgbClr val="FFFFFF"/>
          </a:solidFill>
          <a:ln w="15875">
            <a:solidFill>
              <a:srgbClr val="DFE7E4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598768" y="1892808"/>
            <a:ext cx="4769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E4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SPACE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6598768" y="2221992"/>
            <a:ext cx="47699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4A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3–4 example sentences or questions to practice this focus area with your student.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6598768" y="2926080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4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964528" y="3127248"/>
            <a:ext cx="4404208" cy="0"/>
          </a:xfrm>
          <a:prstGeom prst="line">
            <a:avLst/>
          </a:prstGeom>
          <a:noFill/>
          <a:ln w="12700">
            <a:solidFill>
              <a:srgbClr val="C7D3D0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598768" y="3675888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4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964528" y="3877056"/>
            <a:ext cx="4404208" cy="0"/>
          </a:xfrm>
          <a:prstGeom prst="line">
            <a:avLst/>
          </a:prstGeom>
          <a:noFill/>
          <a:ln w="12700">
            <a:solidFill>
              <a:srgbClr val="C7D3D0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598768" y="4425696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4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964528" y="4626864"/>
            <a:ext cx="4404208" cy="0"/>
          </a:xfrm>
          <a:prstGeom prst="line">
            <a:avLst/>
          </a:prstGeom>
          <a:noFill/>
          <a:ln w="12700">
            <a:solidFill>
              <a:srgbClr val="C7D3D0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598768" y="5175504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4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964528" y="5376672"/>
            <a:ext cx="4404208" cy="0"/>
          </a:xfrm>
          <a:prstGeom prst="line">
            <a:avLst/>
          </a:prstGeom>
          <a:noFill/>
          <a:ln w="12700">
            <a:solidFill>
              <a:srgbClr val="C7D3D0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54864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4A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 TO CHINA</a:t>
            </a:r>
            <a:endParaRPr lang="en-US" sz="900" dirty="0"/>
          </a:p>
        </p:txBody>
      </p:sp>
      <p:sp>
        <p:nvSpPr>
          <p:cNvPr id="33" name="Text 31"/>
          <p:cNvSpPr txBox="1"/>
          <p:nvPr/>
        </p:nvSpPr>
        <p:spPr>
          <a:xfrm>
            <a:off x="7071055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Contextual Vocabulary &amp; Phrasal Verbs</a:t>
            </a:r>
            <a:endParaRPr lang="en-US" sz="9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5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46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WRAP-UP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2296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3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Contextual Vocabulary &amp; Phrasal Verbs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18608" cy="301752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32436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920240"/>
            <a:ext cx="365760" cy="365760"/>
          </a:xfrm>
          <a:prstGeom prst="ellipse">
            <a:avLst/>
          </a:prstGeom>
          <a:solidFill>
            <a:srgbClr val="1F8A5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19202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325880" y="1920240"/>
            <a:ext cx="4312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Vocabulary &amp; Phrases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514600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6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170432" y="2715768"/>
            <a:ext cx="4404208" cy="0"/>
          </a:xfrm>
          <a:prstGeom prst="line">
            <a:avLst/>
          </a:prstGeom>
          <a:noFill/>
          <a:ln w="12700">
            <a:solidFill>
              <a:srgbClr val="C7D3D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22960" y="3044952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6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1170432" y="3246120"/>
            <a:ext cx="4404208" cy="0"/>
          </a:xfrm>
          <a:prstGeom prst="line">
            <a:avLst/>
          </a:prstGeom>
          <a:noFill/>
          <a:ln w="12700">
            <a:solidFill>
              <a:srgbClr val="C7D3D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22960" y="3575304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6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170432" y="3776472"/>
            <a:ext cx="4404208" cy="0"/>
          </a:xfrm>
          <a:prstGeom prst="line">
            <a:avLst/>
          </a:prstGeom>
          <a:noFill/>
          <a:ln w="12700">
            <a:solidFill>
              <a:srgbClr val="C7D3D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22960" y="4105656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6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170432" y="4306824"/>
            <a:ext cx="4404208" cy="0"/>
          </a:xfrm>
          <a:prstGeom prst="line">
            <a:avLst/>
          </a:prstGeom>
          <a:noFill/>
          <a:ln w="12700">
            <a:solidFill>
              <a:srgbClr val="C7D3D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324448" y="1691640"/>
            <a:ext cx="5318608" cy="301752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32436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598768" y="1920240"/>
            <a:ext cx="365760" cy="365760"/>
          </a:xfrm>
          <a:prstGeom prst="ellipse">
            <a:avLst/>
          </a:prstGeom>
          <a:solidFill>
            <a:srgbClr val="1E4E8C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598768" y="19202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7101688" y="1920240"/>
            <a:ext cx="4312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Homework &amp; Session Notes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598768" y="2514600"/>
            <a:ext cx="4769968" cy="0"/>
          </a:xfrm>
          <a:prstGeom prst="line">
            <a:avLst/>
          </a:prstGeom>
          <a:noFill/>
          <a:ln w="12700">
            <a:solidFill>
              <a:srgbClr val="C7D3D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598768" y="3044952"/>
            <a:ext cx="4769968" cy="0"/>
          </a:xfrm>
          <a:prstGeom prst="line">
            <a:avLst/>
          </a:prstGeom>
          <a:noFill/>
          <a:ln w="12700">
            <a:solidFill>
              <a:srgbClr val="C7D3D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598768" y="3575304"/>
            <a:ext cx="4769968" cy="0"/>
          </a:xfrm>
          <a:prstGeom prst="line">
            <a:avLst/>
          </a:prstGeom>
          <a:noFill/>
          <a:ln w="12700">
            <a:solidFill>
              <a:srgbClr val="C7D3D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598768" y="4105656"/>
            <a:ext cx="4769968" cy="0"/>
          </a:xfrm>
          <a:prstGeom prst="line">
            <a:avLst/>
          </a:prstGeom>
          <a:noFill/>
          <a:ln w="12700">
            <a:solidFill>
              <a:srgbClr val="C7D3D0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48640" y="507492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4A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 work today! Log this session's hours on your dashboard once it's complete.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54864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4A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 TO CHINA</a:t>
            </a:r>
            <a:endParaRPr lang="en-US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7071055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Contextual Vocabulary &amp; Phrasal Verbs</a:t>
            </a:r>
            <a:endParaRPr lang="en-US" sz="9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133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99855" y="-1463040"/>
            <a:ext cx="4754880" cy="4754880"/>
          </a:xfrm>
          <a:prstGeom prst="ellipse">
            <a:avLst/>
          </a:prstGeom>
          <a:solidFill>
            <a:srgbClr val="17436F"/>
          </a:solidFill>
          <a:ln/>
        </p:spPr>
      </p:sp>
      <p:sp>
        <p:nvSpPr>
          <p:cNvPr id="3" name="Shape 1"/>
          <p:cNvSpPr/>
          <p:nvPr/>
        </p:nvSpPr>
        <p:spPr>
          <a:xfrm>
            <a:off x="10180015" y="4480560"/>
            <a:ext cx="2926080" cy="2926080"/>
          </a:xfrm>
          <a:prstGeom prst="ellipse">
            <a:avLst/>
          </a:prstGeom>
          <a:solidFill>
            <a:srgbClr val="1B4E80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10515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7FD9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10 · SKILL-BASED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463040"/>
            <a:ext cx="9601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Thinking in English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8803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7E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Level: Intermediate-High   ·   Duration: 30 minutes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3703320"/>
            <a:ext cx="457200" cy="457200"/>
          </a:xfrm>
          <a:prstGeom prst="ellipse">
            <a:avLst/>
          </a:prstGeom>
          <a:solidFill>
            <a:srgbClr val="1F8A5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3703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188720" y="3703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7D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 in the fields below before your session begins.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4709160"/>
            <a:ext cx="25678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AFC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VOLUNTEER NAME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48640" y="5093208"/>
            <a:ext cx="2567864" cy="0"/>
          </a:xfrm>
          <a:prstGeom prst="line">
            <a:avLst/>
          </a:prstGeom>
          <a:noFill/>
          <a:ln w="12700">
            <a:solidFill>
              <a:srgbClr val="44608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390824" y="4709160"/>
            <a:ext cx="25678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AFC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NAME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390824" y="5093208"/>
            <a:ext cx="2567864" cy="0"/>
          </a:xfrm>
          <a:prstGeom prst="line">
            <a:avLst/>
          </a:prstGeom>
          <a:noFill/>
          <a:ln w="12700">
            <a:solidFill>
              <a:srgbClr val="44608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233008" y="4709160"/>
            <a:ext cx="25678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AFC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233008" y="5093208"/>
            <a:ext cx="2567864" cy="0"/>
          </a:xfrm>
          <a:prstGeom prst="line">
            <a:avLst/>
          </a:prstGeom>
          <a:noFill/>
          <a:ln w="12700">
            <a:solidFill>
              <a:srgbClr val="44608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075191" y="4709160"/>
            <a:ext cx="25678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AFC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#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9075191" y="5093208"/>
            <a:ext cx="2567864" cy="0"/>
          </a:xfrm>
          <a:prstGeom prst="line">
            <a:avLst/>
          </a:prstGeom>
          <a:noFill/>
          <a:ln w="12700">
            <a:solidFill>
              <a:srgbClr val="44608A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4864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AFC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 TO CHINA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7071055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FC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Thinking in English</a:t>
            </a:r>
            <a:endParaRPr lang="en-US" sz="9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46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AREAS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2296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3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Thinking in English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502920" cy="502920"/>
          </a:xfrm>
          <a:prstGeom prst="ellipse">
            <a:avLst/>
          </a:prstGeom>
          <a:solidFill>
            <a:srgbClr val="1F8A5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2011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325880" y="1920240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3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Association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325880" y="2350008"/>
            <a:ext cx="9875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A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Eliminating the internal Chinese-to-English translation loop.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3218688"/>
            <a:ext cx="11091672" cy="0"/>
          </a:xfrm>
          <a:prstGeom prst="line">
            <a:avLst/>
          </a:prstGeom>
          <a:noFill/>
          <a:ln w="12700">
            <a:solidFill>
              <a:srgbClr val="DFE7E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3429000"/>
            <a:ext cx="502920" cy="502920"/>
          </a:xfrm>
          <a:prstGeom prst="ellipse">
            <a:avLst/>
          </a:prstGeom>
          <a:solidFill>
            <a:srgbClr val="1E4E8C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48640" y="3429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1325880" y="3337560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3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Paraphrasing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1325880" y="3767328"/>
            <a:ext cx="9875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A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Explaining a missing vocabulary word using alternative English phrasing.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4636008"/>
            <a:ext cx="11091672" cy="0"/>
          </a:xfrm>
          <a:prstGeom prst="line">
            <a:avLst/>
          </a:prstGeom>
          <a:noFill/>
          <a:ln w="12700">
            <a:solidFill>
              <a:srgbClr val="DFE7E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4846320"/>
            <a:ext cx="502920" cy="502920"/>
          </a:xfrm>
          <a:prstGeom prst="ellipse">
            <a:avLst/>
          </a:prstGeom>
          <a:solidFill>
            <a:srgbClr val="F2A73B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48640" y="4846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1325880" y="4754880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3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Cultural Nuance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1325880" y="5184648"/>
            <a:ext cx="9875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A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when a phrase fits casual, polite, or formal settings.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4A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 TO CHINA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7071055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Thinking in English</a:t>
            </a:r>
            <a:endParaRPr lang="en-US" sz="9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46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 &amp; PRACTICE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2296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3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Thinking in English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18608" cy="4343400"/>
          </a:xfrm>
          <a:prstGeom prst="roundRect">
            <a:avLst>
              <a:gd name="adj" fmla="val 2526"/>
            </a:avLst>
          </a:prstGeom>
          <a:solidFill>
            <a:srgbClr val="F5FAF8"/>
          </a:solidFill>
          <a:ln w="12700">
            <a:solidFill>
              <a:srgbClr val="DFE7E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892808"/>
            <a:ext cx="4769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46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SUGGESTED FLOW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28600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6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0:00–0:05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2057400" y="2286000"/>
            <a:ext cx="348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Warm-Up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2057400" y="2560320"/>
            <a:ext cx="34898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A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Greet the student, review last session's homework.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303580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6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0:05–0:10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2057400" y="3035808"/>
            <a:ext cx="348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Introduce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2057400" y="3310128"/>
            <a:ext cx="34898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A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 today's focus with clear examples.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3785616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6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0:10–0:20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2057400" y="3785616"/>
            <a:ext cx="348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 Practice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2057400" y="4059936"/>
            <a:ext cx="34898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A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together — repetition, sentences, role-play.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822960" y="4535424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6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0:20–0:27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2057400" y="4535424"/>
            <a:ext cx="348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Practice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2057400" y="4809744"/>
            <a:ext cx="34898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A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the focus in open conversation.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822960" y="528523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6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0:27–0:30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2057400" y="5285232"/>
            <a:ext cx="348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Wrap-Up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2057400" y="5559552"/>
            <a:ext cx="34898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A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Recap, assign homework, say goodbye.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324448" y="1691640"/>
            <a:ext cx="5318608" cy="4343400"/>
          </a:xfrm>
          <a:prstGeom prst="roundRect">
            <a:avLst>
              <a:gd name="adj" fmla="val 2526"/>
            </a:avLst>
          </a:prstGeom>
          <a:solidFill>
            <a:srgbClr val="FFFFFF"/>
          </a:solidFill>
          <a:ln w="15875">
            <a:solidFill>
              <a:srgbClr val="DFE7E4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598768" y="1892808"/>
            <a:ext cx="4769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E4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SPACE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6598768" y="2221992"/>
            <a:ext cx="47699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4A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3–4 example sentences or questions to practice this focus area with your student.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6598768" y="2926080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4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964528" y="3127248"/>
            <a:ext cx="4404208" cy="0"/>
          </a:xfrm>
          <a:prstGeom prst="line">
            <a:avLst/>
          </a:prstGeom>
          <a:noFill/>
          <a:ln w="12700">
            <a:solidFill>
              <a:srgbClr val="C7D3D0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598768" y="3675888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4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964528" y="3877056"/>
            <a:ext cx="4404208" cy="0"/>
          </a:xfrm>
          <a:prstGeom prst="line">
            <a:avLst/>
          </a:prstGeom>
          <a:noFill/>
          <a:ln w="12700">
            <a:solidFill>
              <a:srgbClr val="C7D3D0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598768" y="4425696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4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964528" y="4626864"/>
            <a:ext cx="4404208" cy="0"/>
          </a:xfrm>
          <a:prstGeom prst="line">
            <a:avLst/>
          </a:prstGeom>
          <a:noFill/>
          <a:ln w="12700">
            <a:solidFill>
              <a:srgbClr val="C7D3D0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598768" y="5175504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4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964528" y="5376672"/>
            <a:ext cx="4404208" cy="0"/>
          </a:xfrm>
          <a:prstGeom prst="line">
            <a:avLst/>
          </a:prstGeom>
          <a:noFill/>
          <a:ln w="12700">
            <a:solidFill>
              <a:srgbClr val="C7D3D0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54864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4A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 TO CHINA</a:t>
            </a:r>
            <a:endParaRPr lang="en-US" sz="900" dirty="0"/>
          </a:p>
        </p:txBody>
      </p:sp>
      <p:sp>
        <p:nvSpPr>
          <p:cNvPr id="33" name="Text 31"/>
          <p:cNvSpPr txBox="1"/>
          <p:nvPr/>
        </p:nvSpPr>
        <p:spPr>
          <a:xfrm>
            <a:off x="7071055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Thinking in English</a:t>
            </a:r>
            <a:endParaRPr lang="en-US" sz="9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5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46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WRAP-UP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2296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3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Thinking in English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18608" cy="301752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32436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920240"/>
            <a:ext cx="365760" cy="365760"/>
          </a:xfrm>
          <a:prstGeom prst="ellipse">
            <a:avLst/>
          </a:prstGeom>
          <a:solidFill>
            <a:srgbClr val="1F8A5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19202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325880" y="1920240"/>
            <a:ext cx="4312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Vocabulary &amp; Phrases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514600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6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170432" y="2715768"/>
            <a:ext cx="4404208" cy="0"/>
          </a:xfrm>
          <a:prstGeom prst="line">
            <a:avLst/>
          </a:prstGeom>
          <a:noFill/>
          <a:ln w="12700">
            <a:solidFill>
              <a:srgbClr val="C7D3D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22960" y="3044952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6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1170432" y="3246120"/>
            <a:ext cx="4404208" cy="0"/>
          </a:xfrm>
          <a:prstGeom prst="line">
            <a:avLst/>
          </a:prstGeom>
          <a:noFill/>
          <a:ln w="12700">
            <a:solidFill>
              <a:srgbClr val="C7D3D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22960" y="3575304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6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170432" y="3776472"/>
            <a:ext cx="4404208" cy="0"/>
          </a:xfrm>
          <a:prstGeom prst="line">
            <a:avLst/>
          </a:prstGeom>
          <a:noFill/>
          <a:ln w="12700">
            <a:solidFill>
              <a:srgbClr val="C7D3D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22960" y="4105656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6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170432" y="4306824"/>
            <a:ext cx="4404208" cy="0"/>
          </a:xfrm>
          <a:prstGeom prst="line">
            <a:avLst/>
          </a:prstGeom>
          <a:noFill/>
          <a:ln w="12700">
            <a:solidFill>
              <a:srgbClr val="C7D3D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324448" y="1691640"/>
            <a:ext cx="5318608" cy="301752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32436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598768" y="1920240"/>
            <a:ext cx="365760" cy="365760"/>
          </a:xfrm>
          <a:prstGeom prst="ellipse">
            <a:avLst/>
          </a:prstGeom>
          <a:solidFill>
            <a:srgbClr val="1E4E8C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598768" y="19202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7101688" y="1920240"/>
            <a:ext cx="4312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Homework &amp; Session Notes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598768" y="2514600"/>
            <a:ext cx="4769968" cy="0"/>
          </a:xfrm>
          <a:prstGeom prst="line">
            <a:avLst/>
          </a:prstGeom>
          <a:noFill/>
          <a:ln w="12700">
            <a:solidFill>
              <a:srgbClr val="C7D3D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598768" y="3044952"/>
            <a:ext cx="4769968" cy="0"/>
          </a:xfrm>
          <a:prstGeom prst="line">
            <a:avLst/>
          </a:prstGeom>
          <a:noFill/>
          <a:ln w="12700">
            <a:solidFill>
              <a:srgbClr val="C7D3D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598768" y="3575304"/>
            <a:ext cx="4769968" cy="0"/>
          </a:xfrm>
          <a:prstGeom prst="line">
            <a:avLst/>
          </a:prstGeom>
          <a:noFill/>
          <a:ln w="12700">
            <a:solidFill>
              <a:srgbClr val="C7D3D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598768" y="4105656"/>
            <a:ext cx="4769968" cy="0"/>
          </a:xfrm>
          <a:prstGeom prst="line">
            <a:avLst/>
          </a:prstGeom>
          <a:noFill/>
          <a:ln w="12700">
            <a:solidFill>
              <a:srgbClr val="C7D3D0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48640" y="507492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4A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 work today! Log this session's hours on your dashboard once it's complete.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54864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4A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 TO CHINA</a:t>
            </a:r>
            <a:endParaRPr lang="en-US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7071055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Thinking in English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47</Slides>
  <Notes>47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47</vt:i4>
      </vt:variant>
    </vt:vector>
  </HeadingPairs>
  <TitlesOfParts>
    <vt:vector size="5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2026-10-04T15:38:03Z</dcterms:created>
  <dcterms:modified xsi:type="dcterms:W3CDTF">2026-10-04T15:38:03Z</dcterms:modified>
</cp:coreProperties>
</file>